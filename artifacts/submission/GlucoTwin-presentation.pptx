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880f7ef48d4613" /><Relationship Type="http://schemas.openxmlformats.org/officeDocument/2006/relationships/extended-properties" Target="/docProps/app.xml" Id="Rcab9172368044882" /><Relationship Type="http://schemas.openxmlformats.org/officeDocument/2006/relationships/officeDocument" Target="/ppt/presentation.xml" Id="R0cd99636aa5946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e33b04eaa9403f"/>
  </p:sldMasterIdLst>
  <p:notesMasterIdLst>
    <p:notesMasterId xmlns:r="http://schemas.openxmlformats.org/officeDocument/2006/relationships" r:id="R342041eed9984e0e"/>
  </p:notesMasterIdLst>
  <p:sldIdLst>
    <p:sldId xmlns:r="http://schemas.openxmlformats.org/officeDocument/2006/relationships" id="256" r:id="R4278bb1ded2e4286"/>
    <p:sldId xmlns:r="http://schemas.openxmlformats.org/officeDocument/2006/relationships" id="257" r:id="R94574bd9b3a9439f"/>
    <p:sldId xmlns:r="http://schemas.openxmlformats.org/officeDocument/2006/relationships" id="258" r:id="R4e219839e06c4b51"/>
    <p:sldId xmlns:r="http://schemas.openxmlformats.org/officeDocument/2006/relationships" id="259" r:id="R38507fcff90e4e54"/>
    <p:sldId xmlns:r="http://schemas.openxmlformats.org/officeDocument/2006/relationships" id="260" r:id="R0912b18ce39c45e3"/>
    <p:sldId xmlns:r="http://schemas.openxmlformats.org/officeDocument/2006/relationships" id="261" r:id="R98a277e1ebc84f68"/>
    <p:sldId xmlns:r="http://schemas.openxmlformats.org/officeDocument/2006/relationships" id="262" r:id="R7565bce695a441c8"/>
    <p:sldId xmlns:r="http://schemas.openxmlformats.org/officeDocument/2006/relationships" id="263" r:id="Rdeb2ed6c6d594054"/>
    <p:sldId xmlns:r="http://schemas.openxmlformats.org/officeDocument/2006/relationships" id="264" r:id="R0b3cc0ee615c4c28"/>
    <p:sldId xmlns:r="http://schemas.openxmlformats.org/officeDocument/2006/relationships" id="265" r:id="Rf58f986226e1474d"/>
    <p:sldId xmlns:r="http://schemas.openxmlformats.org/officeDocument/2006/relationships" id="266" r:id="R8298d14c5447422d"/>
    <p:sldId xmlns:r="http://schemas.openxmlformats.org/officeDocument/2006/relationships" id="267" r:id="R7558329b566e4c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0e0012cb734679" /><Relationship Type="http://schemas.openxmlformats.org/officeDocument/2006/relationships/slideMaster" Target="/ppt/slideMasters/slideMaster1.xml" Id="R0be33b04eaa9403f" /><Relationship Type="http://schemas.openxmlformats.org/officeDocument/2006/relationships/notesMaster" Target="/ppt/notesMasters/notesMaster1.xml" Id="R342041eed9984e0e" /><Relationship Type="http://schemas.openxmlformats.org/officeDocument/2006/relationships/presProps" Target="/ppt/presProps.xml" Id="Rf79a87d0983142d4" /><Relationship Type="http://schemas.openxmlformats.org/officeDocument/2006/relationships/tableStyles" Target="/ppt/tableStyles.xml" Id="R9989e1a92a89489d" /><Relationship Type="http://schemas.openxmlformats.org/officeDocument/2006/relationships/slide" Target="/ppt/slides/slide1.xml" Id="R4278bb1ded2e4286" /><Relationship Type="http://schemas.openxmlformats.org/officeDocument/2006/relationships/slide" Target="/ppt/slides/slide2.xml" Id="R94574bd9b3a9439f" /><Relationship Type="http://schemas.openxmlformats.org/officeDocument/2006/relationships/slide" Target="/ppt/slides/slide3.xml" Id="R4e219839e06c4b51" /><Relationship Type="http://schemas.openxmlformats.org/officeDocument/2006/relationships/slide" Target="/ppt/slides/slide4.xml" Id="R38507fcff90e4e54" /><Relationship Type="http://schemas.openxmlformats.org/officeDocument/2006/relationships/slide" Target="/ppt/slides/slide5.xml" Id="R0912b18ce39c45e3" /><Relationship Type="http://schemas.openxmlformats.org/officeDocument/2006/relationships/slide" Target="/ppt/slides/slide6.xml" Id="R98a277e1ebc84f68" /><Relationship Type="http://schemas.openxmlformats.org/officeDocument/2006/relationships/slide" Target="/ppt/slides/slide7.xml" Id="R7565bce695a441c8" /><Relationship Type="http://schemas.openxmlformats.org/officeDocument/2006/relationships/slide" Target="/ppt/slides/slide8.xml" Id="Rdeb2ed6c6d594054" /><Relationship Type="http://schemas.openxmlformats.org/officeDocument/2006/relationships/slide" Target="/ppt/slides/slide9.xml" Id="R0b3cc0ee615c4c28" /><Relationship Type="http://schemas.openxmlformats.org/officeDocument/2006/relationships/slide" Target="/ppt/slides/slide10.xml" Id="Rf58f986226e1474d" /><Relationship Type="http://schemas.openxmlformats.org/officeDocument/2006/relationships/slide" Target="/ppt/slides/slide11.xml" Id="R8298d14c5447422d" /><Relationship Type="http://schemas.openxmlformats.org/officeDocument/2006/relationships/slide" Target="/ppt/slides/slide12.xml" Id="R7558329b566e4c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30084b005441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a11796ea924ed7" /><Relationship Type="http://schemas.openxmlformats.org/officeDocument/2006/relationships/notesMaster" Target="/ppt/notesMasters/notesMaster1.xml" Id="R3f2b7820c12c4d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adf10c162f41b1" /><Relationship Type="http://schemas.openxmlformats.org/officeDocument/2006/relationships/notesMaster" Target="/ppt/notesMasters/notesMaster1.xml" Id="R477d75865ae44c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33fbda05214191" /><Relationship Type="http://schemas.openxmlformats.org/officeDocument/2006/relationships/notesMaster" Target="/ppt/notesMasters/notesMaster1.xml" Id="Rd819d63ec5d44f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2ee91e24724068" /><Relationship Type="http://schemas.openxmlformats.org/officeDocument/2006/relationships/notesMaster" Target="/ppt/notesMasters/notesMaster1.xml" Id="Rf770b4a80f744f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f50e15cfa04e3d" /><Relationship Type="http://schemas.openxmlformats.org/officeDocument/2006/relationships/notesMaster" Target="/ppt/notesMasters/notesMaster1.xml" Id="R1ad6cf0fe2ad4c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4e37f777774497" /><Relationship Type="http://schemas.openxmlformats.org/officeDocument/2006/relationships/notesMaster" Target="/ppt/notesMasters/notesMaster1.xml" Id="R26476678145446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4f79a4b66b4961" /><Relationship Type="http://schemas.openxmlformats.org/officeDocument/2006/relationships/notesMaster" Target="/ppt/notesMasters/notesMaster1.xml" Id="R09ac09f3327645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73230939ec47d0" /><Relationship Type="http://schemas.openxmlformats.org/officeDocument/2006/relationships/notesMaster" Target="/ppt/notesMasters/notesMaster1.xml" Id="Rc419944a64084d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b99a01f1c54a00" /><Relationship Type="http://schemas.openxmlformats.org/officeDocument/2006/relationships/notesMaster" Target="/ppt/notesMasters/notesMaster1.xml" Id="Rdc1fc341450b4c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c5dcc2aefc43ad" /><Relationship Type="http://schemas.openxmlformats.org/officeDocument/2006/relationships/notesMaster" Target="/ppt/notesMasters/notesMaster1.xml" Id="R12ed72ec966844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c6df60aea44464" /><Relationship Type="http://schemas.openxmlformats.org/officeDocument/2006/relationships/notesMaster" Target="/ppt/notesMasters/notesMaster1.xml" Id="R6384692b3aaf4f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87f2dff18a4f91" /><Relationship Type="http://schemas.openxmlformats.org/officeDocument/2006/relationships/notesMaster" Target="/ppt/notesMasters/notesMaster1.xml" Id="Ra556dc6e910c4c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scope: docs/approved-plan.md. No clinician interview or usability study has been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event protocol; threshold context: Battelino et al., International Consensus on Time in Range (2019), https://pubmed.ncbi.nlm.nih.gov/31177185/. The episode protocol is not an emergency definition or a treatment trigger.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model/README.md, model/REAL_BENCHMARK.md, public/model-evidence.json, model/real-benchmark-evidence.json. Zhao et al. (2023), https://doi.org/10.1038/s41597-023-01940-7.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src/App.tsx and src/lib/engine.ts. Session-only notes and acknowledgments never contact a clinical system. No live EHR or sensor connection.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src/lib/engine.ts, src/App.tsx, model/train.py, model/benchmark_real.py. Browser runs synthetic JSON coefficients; the real benchmark exports aggregates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model/README.md and public/model-evidence.json. Synthetic persistence 120-minute MAE 19.55 mg/dL; clipped linear trend 33.85 mg/dL. The bands use validation 90th percentile absolute residuals; marginal coverage is measured per horizon.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public/model-evidence.json; seed 20261009; split 144/48/48 people. Average precision is labeled PR-AUC. Threshold 0.15 selected on validation. Patient bootstrap uses 300 resamples; fused PR-AUC 95% interval 0.2731 to 0.3581. Generator-driven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model/real-benchmark-evidence.json. ShanghaiT2DM v5, https://doi.org/10.6084/m9.figshare.21600933.v5, CC BY 4.0. 60/20/20 patient split; 20,687 eligible test windows. Average precision is labeled PR-AUC. Paired cluster bootstrap: 300 resamples of 20 test people.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model/real-benchmark-evidence.json, model/REAL_BENCHMARK.md. At threshold 0.20 chosen on validation: precision 0.289, recall 0.505, Brier 0.0787. 120-minute alert cooldown per recording. Episodes and alerts separately deduplicated; one alert may warn multiple episodes. Denominator is recorded-span time, including gaps and current-high periods.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public/model-demo.json, src/lib/engine.ts, model/test_model.py, model/test_real.py. UI requires nine samples; synthetic training requires at least five. Real benchmark requires 24 contiguous past/current samples. UI 30-minute stale limit is an engineering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model/README.md, model/REAL_BENCHMARK.md, docs/CONTRIBUTIONS.md, docs/THIRD_PARTY_NOTICES.md. Dataset: Zhao et al. (2023), https://doi.org/10.1038/s41597-023-01940-7; release https://doi.org/10.6084/m9.figshare.21600933.v5, CC BY 4.0 https://creativecommons.org/licenses/by/4.0/. Derived trailing features and aggregate evaluation are modifications.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3c2c82f2847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8bf920d7e45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37795e53949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479083a3140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cc53b6d424b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ec7862c754c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F8DBB6-F27F-4C36-BBBB-F63D1E7F11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F7A7002-2F1A-46FC-A5DB-6DD09DFCDD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E98EFB1-52A7-4B0B-AD72-D5347B5992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E40844-85B0-421E-A2C2-B3BCC651FA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22040B-0264-4839-8A4D-DE29F0AF4A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4ABD2B-2232-468E-9D26-9BFF6DEFD7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A207EE-17C3-4624-88D4-3902272ABF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3D80588-3F5A-448C-BEB0-DAE06A3C0A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EFE40F-D0A1-4F69-9F92-65F6E97A05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756D73-55DC-454F-B935-D11F675D7B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fcd93b509b4de0" /><Relationship Type="http://schemas.openxmlformats.org/officeDocument/2006/relationships/slideLayout" Target="/ppt/slideLayouts/slideLayout1.xml" Id="R7c44b43573f04d02" /><Relationship Type="http://schemas.openxmlformats.org/officeDocument/2006/relationships/slideLayout" Target="/ppt/slideLayouts/slideLayout2.xml" Id="Re7efcd24a6ea47c3" /><Relationship Type="http://schemas.openxmlformats.org/officeDocument/2006/relationships/slideLayout" Target="/ppt/slideLayouts/slideLayout3.xml" Id="R803cbb9c7c2e4150" /><Relationship Type="http://schemas.openxmlformats.org/officeDocument/2006/relationships/slideLayout" Target="/ppt/slideLayouts/slideLayout4.xml" Id="Rd5ac852fbc5d4b8c" /><Relationship Type="http://schemas.openxmlformats.org/officeDocument/2006/relationships/slideLayout" Target="/ppt/slideLayouts/slideLayout5.xml" Id="R5a931200bd1b4e7b" /><Relationship Type="http://schemas.openxmlformats.org/officeDocument/2006/relationships/slideLayout" Target="/ppt/slideLayouts/slideLayout6.xml" Id="Rd2d3bd4a816e4d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44b43573f04d02"/>
    <p:sldLayoutId xmlns:r="http://schemas.openxmlformats.org/officeDocument/2006/relationships" id="2147483650" r:id="Re7efcd24a6ea47c3"/>
    <p:sldLayoutId xmlns:r="http://schemas.openxmlformats.org/officeDocument/2006/relationships" id="2147483651" r:id="R803cbb9c7c2e4150"/>
    <p:sldLayoutId xmlns:r="http://schemas.openxmlformats.org/officeDocument/2006/relationships" id="2147483652" r:id="Rd5ac852fbc5d4b8c"/>
    <p:sldLayoutId xmlns:r="http://schemas.openxmlformats.org/officeDocument/2006/relationships" id="2147483653" r:id="R5a931200bd1b4e7b"/>
    <p:sldLayoutId xmlns:r="http://schemas.openxmlformats.org/officeDocument/2006/relationships" id="2147483654" r:id="Rd2d3bd4a816e4d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d4a9a325044b85" /><Relationship Type="http://schemas.openxmlformats.org/officeDocument/2006/relationships/notesSlide" Target="/ppt/notesSlides/notesSlide1.xml" Id="R3467acdc83fd45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bbe832ce144dc" /><Relationship Type="http://schemas.openxmlformats.org/officeDocument/2006/relationships/notesSlide" Target="/ppt/notesSlides/notesSlide2.xml" Id="R6ad6753042684e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70023cf1e64849" /><Relationship Type="http://schemas.openxmlformats.org/officeDocument/2006/relationships/notesSlide" Target="/ppt/notesSlides/notesSlide3.xml" Id="R8b18a72efdc846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b484185f948a0" /><Relationship Type="http://schemas.openxmlformats.org/officeDocument/2006/relationships/notesSlide" Target="/ppt/notesSlides/notesSlide4.xml" Id="Rad537a811da342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b517b16254469" /><Relationship Type="http://schemas.openxmlformats.org/officeDocument/2006/relationships/image" Target="/ppt/media/image.jpeg" Id="R03d0e0b3f2f24433" /><Relationship Type="http://schemas.openxmlformats.org/officeDocument/2006/relationships/notesSlide" Target="/ppt/notesSlides/notesSlide5.xml" Id="Ra803812c7e5549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202d91d2b54a55" /><Relationship Type="http://schemas.openxmlformats.org/officeDocument/2006/relationships/notesSlide" Target="/ppt/notesSlides/notesSlide6.xml" Id="R9366a9b10a104d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350b1d188f4478" /><Relationship Type="http://schemas.openxmlformats.org/officeDocument/2006/relationships/notesSlide" Target="/ppt/notesSlides/notesSlide7.xml" Id="Rc41deec18be446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e0b5a994d24cab" /><Relationship Type="http://schemas.openxmlformats.org/officeDocument/2006/relationships/chart" Target="/ppt/slides/charts/chart1.xml" Id="R43e05023922e4cb8" /><Relationship Type="http://schemas.openxmlformats.org/officeDocument/2006/relationships/notesSlide" Target="/ppt/notesSlides/notesSlide8.xml" Id="R360a88a804dd40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4e769a696b4965" /><Relationship Type="http://schemas.openxmlformats.org/officeDocument/2006/relationships/chart" Target="/ppt/slides/charts/chart2.xml" Id="Rf04679a1158240be" /><Relationship Type="http://schemas.openxmlformats.org/officeDocument/2006/relationships/notesSlide" Target="/ppt/notesSlides/notesSlide9.xml" Id="R44470cad005448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72fcd1eab34a39" /><Relationship Type="http://schemas.openxmlformats.org/officeDocument/2006/relationships/notesSlide" Target="/ppt/notesSlides/notesSlide10.xml" Id="Rcb144314cd2241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0997802424ce3" /><Relationship Type="http://schemas.openxmlformats.org/officeDocument/2006/relationships/notesSlide" Target="/ppt/notesSlides/notesSlide11.xml" Id="R83c99af9b87d40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2b59a66afe478c" /><Relationship Type="http://schemas.openxmlformats.org/officeDocument/2006/relationships/notesSlide" Target="/ppt/notesSlides/notesSlide12.xml" Id="R3cc850a21d724d4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PR-AUC</c:v>
          </c:tx>
          <c:spPr>
            <a:solidFill xmlns:a="http://schemas.openxmlformats.org/drawingml/2006/main">
              <a:srgbClr val="087E80"/>
            </a:solidFill>
          </c:spPr>
          <c:cat>
            <c:strRef>
              <c:f>'Chart Data'!$A$2:$A$5</c:f>
              <c:strCache>
                <c:ptCount val="4"/>
                <c:pt idx="0">
                  <c:v>Persistence</c:v>
                </c:pt>
                <c:pt idx="1">
                  <c:v>Static</c:v>
                </c:pt>
                <c:pt idx="2">
                  <c:v>Dynamic</c:v>
                </c:pt>
                <c:pt idx="3">
                  <c:v>Fused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0.0773</c:v>
                </c:pt>
                <c:pt idx="1">
                  <c:v>0.1776</c:v>
                </c:pt>
                <c:pt idx="2">
                  <c:v>0.2837</c:v>
                </c:pt>
                <c:pt idx="3">
                  <c:v>0.3205</c:v>
                </c:pt>
              </c:numCache>
            </c:numRef>
          </c:val>
        </c:ser>
        <c:dLbls>
          <c:numFmt formatCode="0.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Liberation Sans"/>
                  <a:ea typeface="Liberation Sans"/>
                  <a:cs typeface="Liberation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D8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PR-AUC</c:v>
          </c:tx>
          <c:spPr>
            <a:solidFill xmlns:a="http://schemas.openxmlformats.org/drawingml/2006/main">
              <a:srgbClr val="087E80"/>
            </a:solidFill>
          </c:spPr>
          <c:cat>
            <c:strRef>
              <c:f>'Chart Data'!$A$2:$A$5</c:f>
              <c:strCache>
                <c:ptCount val="4"/>
                <c:pt idx="0">
                  <c:v>Persistence</c:v>
                </c:pt>
                <c:pt idx="1">
                  <c:v>Static</c:v>
                </c:pt>
                <c:pt idx="2">
                  <c:v>Dynamic</c:v>
                </c:pt>
                <c:pt idx="3">
                  <c:v>Fused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0.0995</c:v>
                </c:pt>
                <c:pt idx="1">
                  <c:v>0.1189</c:v>
                </c:pt>
                <c:pt idx="2">
                  <c:v>0.3398</c:v>
                </c:pt>
                <c:pt idx="3">
                  <c:v>0.3422</c:v>
                </c:pt>
              </c:numCache>
            </c:numRef>
          </c:val>
        </c:ser>
        <c:dLbls>
          <c:numFmt formatCode="0.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Liberation Sans"/>
                  <a:ea typeface="Liberation Sans"/>
                  <a:cs typeface="Liberation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D8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35CF3-81DD-41BB-A91D-EBA101BC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GlucoTwin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A26A4-F096-47B7-A3C3-A09848D4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GlucoTwin  /  Research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3A5D6-F08B-429C-BB81-7796C59E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320BC-41F9-4873-9D01-6C07E2CB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19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2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A two-hour glucose event</a:t>
            </a:r>
          </a:p>
          <a:p xmlns:a="http://schemas.openxmlformats.org/drawingml/2006/main">
            <a:pPr>
              <a:defRPr sz="42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2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research 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4F699-0DA0-496F-A85F-6E74BA9A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81450"/>
            <a:ext cx="1000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Team dev</a:t>
            </a:r>
          </a:p>
          <a:p xmlns:a="http://schemas.openxmlformats.org/drawingml/2006/main">
            <a:pPr>
              <a:defRPr sz="19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J R Deva Dattan</a:t>
            </a:r>
          </a:p>
          <a:p xmlns:a="http://schemas.openxmlformats.org/drawingml/2006/main">
            <a:pPr>
              <a:defRPr sz="19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Army Institute of Technology, Pune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D1F61-52EB-4582-8B90-96604FAE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rPr>
              <a:t>Synthetic demo. Not for clinical decisions.</a:t>
            </a:r>
          </a:p>
        </p:txBody>
      </p:sp>
    </p:spTree>
    <p:extLst>
      <p:ext uri="{BB962C8B-B14F-4D97-AF65-F5344CB8AC3E}">
        <p14:creationId xmlns:p14="http://schemas.microsoft.com/office/powerpoint/2010/main" val="5653702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E6C90-5C17-4E16-8526-2EDA3248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The review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E2ED6-43C4-40C3-8A18-93D80AD9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GlucoTwin  /  Research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C4AD3-7F75-4EDB-BD42-51CDF26A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BEECE-40E2-4854-A7B2-803BEB30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5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What changed, and can this</a:t>
            </a:r>
          </a:p>
          <a:p xmlns:a="http://schemas.openxmlformats.org/drawingml/2006/main">
            <a:pPr>
              <a:defRPr sz="375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5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forecast be trusted?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8348B-C0FE-4F5E-96BB-D5FC630D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rPr>
              <a:t>Proposed 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970CB-4485-4EE2-BEC2-C912A90A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76700"/>
            <a:ext cx="4905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A clinician reviewing a simulated Type 2 diabetes worklist.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F43AB-F66B-4B0F-923F-F2912565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rPr>
              <a:t>Working interaction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AC270-24A7-4543-94BC-EA0F07EF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76700"/>
            <a:ext cx="4905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Inspect the data available at a moment, advance replay, and compare the later outcome.</a:t>
            </a:r>
          </a:p>
        </p:txBody>
      </p:sp>
    </p:spTree>
    <p:extLst>
      <p:ext uri="{BB962C8B-B14F-4D97-AF65-F5344CB8AC3E}">
        <p14:creationId xmlns:p14="http://schemas.microsoft.com/office/powerpoint/2010/main" val="1740802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42E1D-4EA4-4127-B00D-364738E4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The event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5863C-2A3C-4989-BE5B-A5BE9353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GlucoTwin  /  Research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949A8-E472-439F-A827-7C26E268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311D4-9E21-4706-BBE2-B18C2927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700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rPr>
              <a:t>120 minutes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533A9-905E-4550-947D-0480BDB4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Two consecutive future readings above 180 mg/dL, sampled every 15 minutes.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DD2CF-8861-438C-AA0D-49B55788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671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Both readings must lie inside the future window.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37147-E240-4836-9F39-7D04EBCA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57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A current value above 180 suppresses a new-event estimate.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19A40-D1F1-4B6A-8230-10F1F79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482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Missing future observations mean the outcome is unknown.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8B3A2-BC74-4F8F-8BB9-1B32F005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340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Two readings span 15 minutes, not 30 minutes.</a:t>
            </a:r>
          </a:p>
        </p:txBody>
      </p:sp>
    </p:spTree>
    <p:extLst>
      <p:ext uri="{BB962C8B-B14F-4D97-AF65-F5344CB8AC3E}">
        <p14:creationId xmlns:p14="http://schemas.microsoft.com/office/powerpoint/2010/main" val="630737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E3592-F4C0-41AE-B3ED-842BD07E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Synthetic demonstration and real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AB61A-F360-447B-838B-7BF12EE7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GlucoTwin  /  Research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90A6E-840A-46F1-8968-38265DCC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82796-43C4-4505-B3C1-BCEE5120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rPr>
              <a:t>Browser demonstration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A14E6-FD1D-41C1-B27E-47C34925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4905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240 fictional people in training/evaluation. Four selected held-out illustrations in the interface. The generator deliberately uses static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A2722-1037-4404-BF65-7E73AD0D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rPr>
              <a:t>Retrospective benchmark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D4838-0AE9-48B3-9055-8A230BA3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19325"/>
            <a:ext cx="4905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100 adults, 109 sessions from ShanghaiT2DM. Separate models and aggregate results. No real records in the public app.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62AF0-0440-432A-AC76-F28D3694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rPr>
              <a:t>Real-data context: age and recorded gender only. Availability at baseline is assumed. All undated labs are excluded.</a:t>
            </a:r>
          </a:p>
        </p:txBody>
      </p:sp>
    </p:spTree>
    <p:extLst>
      <p:ext uri="{BB962C8B-B14F-4D97-AF65-F5344CB8AC3E}">
        <p14:creationId xmlns:p14="http://schemas.microsoft.com/office/powerpoint/2010/main" val="5426692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43ED1-B16C-4A62-90BF-D68AD10D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The working review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8085F-2E5A-4368-92D6-6965ACC6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GlucoTwin  /  Research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5FF5C-BA30-473B-B2D5-15512E83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6A4BC-A7F6-42A7-B449-8B60D00A1D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0e0b3f2f24433"/>
          <a:srcRect xmlns:a="http://schemas.openxmlformats.org/drawingml/2006/main" l="30000" t="28000" r="1500" b="29000"/>
          <a:stretch xmlns:a="http://schemas.openxmlformats.org/drawingml/2006/main"/>
        </p:blipFill>
        <p:spPr>
          <a:xfrm xmlns:a="http://schemas.openxmlformats.org/drawingml/2006/main">
            <a:off x="714375" y="1476375"/>
            <a:ext cx="752475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55C84-19C2-4D56-A078-AA9BA500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097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rPr>
              <a:t>Actual app detail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9D32A-1806-4271-976C-4AC8C910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86000"/>
            <a:ext cx="2762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Select a fictional patient.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Advance the replay.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Inspect the available inputs and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90717-7118-4578-A756-5367FAF8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198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Synthetic profile and observations. Review actions stay in the current session.</a:t>
            </a:r>
          </a:p>
        </p:txBody>
      </p:sp>
    </p:spTree>
    <p:extLst>
      <p:ext uri="{BB962C8B-B14F-4D97-AF65-F5344CB8AC3E}">
        <p14:creationId xmlns:p14="http://schemas.microsoft.com/office/powerpoint/2010/main" val="1105657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6CBA6-FDF0-4404-9A70-AEB7A144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Implemented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17A38-E647-46FD-A6EB-C7A085B4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GlucoTwin  /  Research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34C44-39CA-4A63-9B04-1529FF52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87FF4-C1AB-453B-8C85-7EBC0ACA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3286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DF"/>
          </a:solidFill>
          <a:ln xmlns:a="http://schemas.openxmlformats.org/drawingml/2006/main" w="9525">
            <a:solidFill>
              <a:srgbClr val="087E8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A4325-21F9-4621-9AD2-DA97AFC3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2905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Synthetic profile</a:t>
            </a:r>
          </a:p>
          <a:p xmlns:a="http://schemas.openxmlformats.org/drawingml/2006/main">
            <a:pPr>
              <a:def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and replay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9B3C6-5918-496D-A8A1-37A41345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62125"/>
            <a:ext cx="3286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DF"/>
          </a:solidFill>
          <a:ln xmlns:a="http://schemas.openxmlformats.org/drawingml/2006/main" w="9525">
            <a:solidFill>
              <a:srgbClr val="087E8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43D32-1CB6-45F1-ADA6-3ADAC874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2905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Quality checks</a:t>
            </a:r>
          </a:p>
          <a:p xmlns:a="http://schemas.openxmlformats.org/drawingml/2006/main">
            <a:pPr>
              <a:def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and rolling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2F1F7-2FAD-431E-AFFE-821645A5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62125"/>
            <a:ext cx="3286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DF"/>
          </a:solidFill>
          <a:ln xmlns:a="http://schemas.openxmlformats.org/drawingml/2006/main" w="9525">
            <a:solidFill>
              <a:srgbClr val="087E8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33921-F1B9-4B36-A013-32F22A55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2905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Past-only</a:t>
            </a:r>
          </a:p>
          <a:p xmlns:a="http://schemas.openxmlformats.org/drawingml/2006/main">
            <a:pPr>
              <a:def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C2F46-FB91-4399-B643-E5F8F472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3286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DF"/>
          </a:solidFill>
          <a:ln xmlns:a="http://schemas.openxmlformats.org/drawingml/2006/main" w="9525">
            <a:solidFill>
              <a:srgbClr val="087E8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04D73-EA18-4521-8AC6-F12AD685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48125"/>
            <a:ext cx="2905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Replay reveals</a:t>
            </a:r>
          </a:p>
          <a:p xmlns:a="http://schemas.openxmlformats.org/drawingml/2006/main">
            <a:pPr>
              <a:def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observed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4D7FD-B704-472A-8576-C50D0C06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10000"/>
            <a:ext cx="3286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DF"/>
          </a:solidFill>
          <a:ln xmlns:a="http://schemas.openxmlformats.org/drawingml/2006/main" w="9525">
            <a:solidFill>
              <a:srgbClr val="087E8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F16AF-BBF0-4517-AC28-F99EC270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48125"/>
            <a:ext cx="2905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Evidence and</a:t>
            </a:r>
          </a:p>
          <a:p xmlns:a="http://schemas.openxmlformats.org/drawingml/2006/main">
            <a:pPr>
              <a:def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review workspace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053B5-45DB-4C0E-AE3C-F822E9BE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10000"/>
            <a:ext cx="3286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DF"/>
          </a:solidFill>
          <a:ln xmlns:a="http://schemas.openxmlformats.org/drawingml/2006/main" w="9525">
            <a:solidFill>
              <a:srgbClr val="087E8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C2FF6-C7EA-4700-B27C-76D9A7C6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48125"/>
            <a:ext cx="2905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Event estimate +</a:t>
            </a:r>
          </a:p>
          <a:p xmlns:a="http://schemas.openxmlformats.org/drawingml/2006/main">
            <a:pPr>
              <a:def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separate trajectory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F96ECD-CB5F-4F43-8088-A608EE5F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38375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6D877-3D5B-4CE4-947A-BE9505FF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38375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9C075A-BB82-497F-BE15-1B82B451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000375"/>
            <a:ext cx="762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655FB-2BCA-419F-9D19-B73508F3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14825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12C52-DC1A-41A2-90A2-F74DC3CF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14825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4CF50B-EEF5-4150-8D4F-5908A8A5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Offline Python training exports synthetic model JSON. A separate local pipeline produces real aggregate evidence.</a:t>
            </a:r>
          </a:p>
        </p:txBody>
      </p:sp>
    </p:spTree>
    <p:extLst>
      <p:ext uri="{BB962C8B-B14F-4D97-AF65-F5344CB8AC3E}">
        <p14:creationId xmlns:p14="http://schemas.microsoft.com/office/powerpoint/2010/main" val="9642234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0F4C8-5F13-439B-8FA2-D1987FB0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The two model outputs have different jobs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A9CC9-4A85-4B42-A208-0043C6A8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GlucoTwin  /  Research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16623-B840-41A8-921B-5F1869D8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19C51-AECB-4697-B5AC-216B4611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rPr>
              <a:t>Event estimate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0893F-22F1-4D2E-9976-A546A0F4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4905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Logistic regression combines the last hour of glucose with synthetic age, diabetes duration, and pre-existing HbA1c.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E0F87-ADB2-4090-8567-46A6D8F5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rPr>
              <a:t>Glucose chart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1CEE5-8C29-484A-8E43-8451B37E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4905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Persistence holds the current glucose constant. Its descriptive bands come from validation residuals.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C4A0F-ADD7-4E26-91D1-F7D4937C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52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rPr>
              <a:t>The chart and event estimate can disagree. The bands are not patient-specific clinical confidence intervals.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E2851-1147-456A-854E-36C01BD4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816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At 120 minutes, synthetic persistence MAE is 19.55 mg/dL versus 33.85 for the clipped trend.</a:t>
            </a:r>
          </a:p>
        </p:txBody>
      </p:sp>
    </p:spTree>
    <p:extLst>
      <p:ext uri="{BB962C8B-B14F-4D97-AF65-F5344CB8AC3E}">
        <p14:creationId xmlns:p14="http://schemas.microsoft.com/office/powerpoint/2010/main" val="20352378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B31FC-4E26-47D9-A448-E0A43394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Synthetic held-out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823B9-759A-49CB-B02B-42F377B5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GlucoTwin  /  Research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2E1E8-E643-4826-8ED1-269E25C8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F6956-BDDF-4FEA-B526-D3377AE5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PR-AUC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049A4-F94D-486D-9ECF-581E9B8B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48 test people / 30,248 eligible windows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49E6ACC-3325-4C61-BE1F-20D7C89A0EFC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6000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e05023922e4cb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45B0F-0850-4F86-BC5C-A214D09F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950" b="1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rPr>
              <a:t>2.81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BD5EC-B8DD-4140-9BFE-8CA18248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24175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rPr>
              <a:t>false alerts / patient-day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2F714-7191-4350-B0FF-B5BB9D24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48125"/>
            <a:ext cx="3571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293 / 334 episodes warned</a:t>
            </a:r>
          </a:p>
          <a:p xmlns:a="http://schemas.openxmlformats.org/drawingml/2006/main">
            <a: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Median lead: 30 minutes</a:t>
            </a:r>
          </a:p>
          <a:p xmlns:a="http://schemas.openxmlformats.org/drawingml/2006/main">
            <a: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Window precision: 27.2%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55D18-F63A-46A4-BA9F-55E8BEF7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Synthetic results demonstrate the implementation. The generator builds in a role for static context.</a:t>
            </a:r>
          </a:p>
        </p:txBody>
      </p:sp>
    </p:spTree>
    <p:extLst>
      <p:ext uri="{BB962C8B-B14F-4D97-AF65-F5344CB8AC3E}">
        <p14:creationId xmlns:p14="http://schemas.microsoft.com/office/powerpoint/2010/main" val="1486319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65DD6-6000-481E-B95D-CC8E4FBA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Real fusion gain remains uncertain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04057-7D1A-49FD-A7A8-E9B66607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GlucoTwin  /  Research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CFECE-BFBE-476D-8E6F-143A5CB8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8F9CD-2790-40DE-9324-78ED688A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PR-AUC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FBBD3-35A2-42C5-8601-277BDFCE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20 held-out people / 20,687 eligible windows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27AAAB69-C5EF-4289-9B17-D92DB737827B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600075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4679a1158240b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2D45F-81A5-4EB0-AE12-14246C4E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66925"/>
            <a:ext cx="361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500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rPr>
              <a:t>+0.0024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998AE-C1FC-4FD6-A18C-00A46618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6227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Fused minus dynamic PR-AUC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7D45D-51DE-4CB3-9A21-1B340D79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71925"/>
            <a:ext cx="3667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rPr>
              <a:t>Paired 95% interval</a:t>
            </a:r>
          </a:p>
          <a:p xmlns:a="http://schemas.openxmlformats.org/drawingml/2006/main">
            <a:pPr>
              <a:defRPr sz="217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rPr>
              <a:t>-0.00248 to +0.00758</a:t>
            </a:r>
          </a:p>
          <a:p xmlns:a="http://schemas.openxmlformats.org/drawingml/2006/main">
            <a:pPr>
              <a:defRPr sz="217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rPr>
              <a:t>Includes zero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3D35C-A85E-4935-9231-31D3EC0F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245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rPr>
              <a:t>This small retrospective study does not establish a meaningful benefit from fusion.</a:t>
            </a:r>
          </a:p>
        </p:txBody>
      </p:sp>
    </p:spTree>
    <p:extLst>
      <p:ext uri="{BB962C8B-B14F-4D97-AF65-F5344CB8AC3E}">
        <p14:creationId xmlns:p14="http://schemas.microsoft.com/office/powerpoint/2010/main" val="7114037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32ECE-32E7-4DEF-8922-7BA616B4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Alert workload limits the real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03592-C265-4540-851D-F4D7D4F2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GlucoTwin  /  Research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6697D-D1BD-4A68-B574-D2029335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F30D7-5083-46B6-88CB-80C4EFF8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700" b="1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rPr>
              <a:t>2.97 false alerts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B1A25-B713-4448-8E4A-89BCCA41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813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925" b="0">
                <a:solidFill>
                  <a:srgbClr val="9B5A27"/>
                </a:solidFill>
                <a:latin typeface="Liberation Sans"/>
                <a:ea typeface="Liberation Sans"/>
                <a:cs typeface="Liberation Sans"/>
              </a:rPr>
              <a:t>per recorded patient-day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90503-9C03-4ED1-AF50-19002E0D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302 / 326 forecastable episodes warned</a:t>
            </a:r>
          </a:p>
          <a:p xmlns:a="http://schemas.openxmlformats.org/drawingml/2006/main">
            <a:pPr>
              <a:defRPr sz="24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Median lead: 45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B8921-E5A7-44D9-9642-81D20329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62400"/>
            <a:ext cx="3762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754 false alerts</a:t>
            </a:r>
          </a:p>
          <a:p xmlns:a="http://schemas.openxmlformats.org/drawingml/2006/main">
            <a:pPr>
              <a:def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~254 recorded patient-days</a:t>
            </a:r>
          </a:p>
          <a:p xmlns:a="http://schemas.openxmlformats.org/drawingml/2006/main">
            <a:pPr>
              <a:def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28.9% window precision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E3BFD-7FEC-4C00-AE7E-EAA78A0E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531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Alerts use a 120-minute cooldown. Recorded-span time includes gaps and current-high periods.</a:t>
            </a:r>
          </a:p>
        </p:txBody>
      </p:sp>
    </p:spTree>
    <p:extLst>
      <p:ext uri="{BB962C8B-B14F-4D97-AF65-F5344CB8AC3E}">
        <p14:creationId xmlns:p14="http://schemas.microsoft.com/office/powerpoint/2010/main" val="7579320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6E8FC-6C49-4FAB-8F10-34F8E404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Failure cases and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ECF6B-BAD9-431F-A0C4-972E5F0E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GlucoTwin  /  Research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3BE5A-0C8D-4BA9-B400-034E99F8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B4494-0A58-485A-8B0C-D155F17B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38300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rPr>
              <a:t>Visible failures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6F214-D323-4DD7-9B5C-F81BA531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4905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Selected synthetic false positive and missed episode. Sensor dropout, cold start, invalid units, and disconnected feed withhold forecasts.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C5EF3-0AE8-48EB-83A3-685EF133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rPr>
              <a:t>Limits before clinical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06FC2-DB55-46DC-94AF-000C5F2D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905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No prospective study, Indian-population validation, clinician usability study, live EHR integration, or treatment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78C52-2813-45AB-89A6-A5411C92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910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0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rPr>
              <a:t>Next research step: external validation with verified feature timing and clinician review of alert burden.</a:t>
            </a:r>
          </a:p>
        </p:txBody>
      </p:sp>
    </p:spTree>
    <p:extLst>
      <p:ext uri="{BB962C8B-B14F-4D97-AF65-F5344CB8AC3E}">
        <p14:creationId xmlns:p14="http://schemas.microsoft.com/office/powerpoint/2010/main" val="3471204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26440-1F6F-4147-A52D-5DCCDC71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Reproducibility and contribution disclosure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D8824-78B8-45EE-8775-6F9742D4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GlucoTwin  /  Research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5E808-6972-4412-AAA0-86ECEB05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8A52E-AD60-4785-BF41-DDAEEB2E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1066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Pinned dependencies, deterministic synthetic training, and browser parity tests.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6F968-96B5-463A-89CA-3D5DB213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62225"/>
            <a:ext cx="1066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Real source records stay outside the repository, video, and hosted app.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3AF3B-DE94-4728-A786-5380886E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48050"/>
            <a:ext cx="1066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AI assistance covers design, implementation, evaluation, and documentation.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D7854-3127-4901-83C1-B46E1B76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1066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53B3A"/>
                </a:solidFill>
                <a:latin typeface="Liberation Sans"/>
                <a:ea typeface="Liberation Sans"/>
                <a:cs typeface="Liberation Sans"/>
              </a:rPr>
              <a:t>MIT code. CC BY 4.0 data, modified into features and aggregate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35322-69A7-4180-802C-93129AC5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Zhao et al. (2023): doi:10.1038/s41597-023-01940-7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C3F8D-6751-4C34-9BF3-A1E569B9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007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36661"/>
                </a:solidFill>
                <a:latin typeface="Liberation Sans"/>
                <a:ea typeface="Liberation Sans"/>
                <a:cs typeface="Liberation Sans"/>
              </a:rPr>
              <a:t>Dataset v5: doi:10.6084/m9.figshare.21600933.v5 / CC BY 4.0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64442-C6A9-4A87-89B7-EC825616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087E80"/>
                </a:solidFill>
                <a:latin typeface="Liberation Sans"/>
                <a:ea typeface="Liberation Sans"/>
                <a:cs typeface="Liberation Sans"/>
              </a:rPr>
              <a:t>Team dev / J R Deva Dattan / Army Institute of Technology, Pune</a:t>
            </a:r>
          </a:p>
        </p:txBody>
      </p:sp>
    </p:spTree>
    <p:extLst>
      <p:ext uri="{BB962C8B-B14F-4D97-AF65-F5344CB8AC3E}">
        <p14:creationId xmlns:p14="http://schemas.microsoft.com/office/powerpoint/2010/main" val="849155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2026-10-09T12:04:47.4500000Z</dcterms:created>
  <dcterms:modified xsi:type="dcterms:W3CDTF">2026-10-09T12:04:47.4500000Z</dcterms:modified>
</coreProperties>
</file>