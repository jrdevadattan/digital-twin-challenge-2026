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b7b0f23f7a4f79" /><Relationship Type="http://schemas.openxmlformats.org/officeDocument/2006/relationships/extended-properties" Target="/docProps/app.xml" Id="Rf17075b98b304047" /><Relationship Type="http://schemas.openxmlformats.org/officeDocument/2006/relationships/officeDocument" Target="/ppt/presentation.xml" Id="Ra6d121560ca1410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b629299cc6f4c34"/>
  </p:sldMasterIdLst>
  <p:notesMasterIdLst>
    <p:notesMasterId xmlns:r="http://schemas.openxmlformats.org/officeDocument/2006/relationships" r:id="R9fbf5ea2c3ab4426"/>
  </p:notesMasterIdLst>
  <p:sldIdLst>
    <p:sldId xmlns:r="http://schemas.openxmlformats.org/officeDocument/2006/relationships" id="256" r:id="R613564e87fc04ffa"/>
    <p:sldId xmlns:r="http://schemas.openxmlformats.org/officeDocument/2006/relationships" id="257" r:id="R7c686f740f4c40a7"/>
    <p:sldId xmlns:r="http://schemas.openxmlformats.org/officeDocument/2006/relationships" id="258" r:id="R56387493e5a849fc"/>
    <p:sldId xmlns:r="http://schemas.openxmlformats.org/officeDocument/2006/relationships" id="259" r:id="Rfe5ce54d3ad84b91"/>
    <p:sldId xmlns:r="http://schemas.openxmlformats.org/officeDocument/2006/relationships" id="260" r:id="R11df6e75fb97496d"/>
    <p:sldId xmlns:r="http://schemas.openxmlformats.org/officeDocument/2006/relationships" id="261" r:id="Reed4ed7514a84eb1"/>
    <p:sldId xmlns:r="http://schemas.openxmlformats.org/officeDocument/2006/relationships" id="262" r:id="R83df34fb2c544a5a"/>
    <p:sldId xmlns:r="http://schemas.openxmlformats.org/officeDocument/2006/relationships" id="263" r:id="R814883b61e0f4217"/>
    <p:sldId xmlns:r="http://schemas.openxmlformats.org/officeDocument/2006/relationships" id="264" r:id="Rdbfd6d7e231049a1"/>
    <p:sldId xmlns:r="http://schemas.openxmlformats.org/officeDocument/2006/relationships" id="265" r:id="Recd96ab7ac9445d5"/>
    <p:sldId xmlns:r="http://schemas.openxmlformats.org/officeDocument/2006/relationships" id="266" r:id="Rad04bc83ec7f40f6"/>
    <p:sldId xmlns:r="http://schemas.openxmlformats.org/officeDocument/2006/relationships" id="267" r:id="R55bf14d1a68f4019"/>
  </p:sldIdLst>
  <p:sldSz cx="9144000" cy="5143500"/>
  <p:notesSz cx="6858000" cy="9144000"/>
  <p:embeddedFontLst>
    <p:embeddedFont>
      <p:font typeface="Montserrat"/>
      <p:regular xmlns:r="http://schemas.openxmlformats.org/officeDocument/2006/relationships" r:id="R57a9086be89847bc"/>
      <p:bold xmlns:r="http://schemas.openxmlformats.org/officeDocument/2006/relationships" r:id="R73c6d3288f0b4f25"/>
      <p:italic xmlns:r="http://schemas.openxmlformats.org/officeDocument/2006/relationships" r:id="R7c488f157f10443c"/>
      <p:boldItalic xmlns:r="http://schemas.openxmlformats.org/officeDocument/2006/relationships" r:id="Rae62b87fc0e24bd8"/>
    </p:embeddedFont>
    <p:embeddedFont>
      <p:font typeface="Encode Sans Semi Condensed"/>
      <p:regular xmlns:r="http://schemas.openxmlformats.org/officeDocument/2006/relationships" r:id="Rb756f35044334ae9"/>
      <p:bold xmlns:r="http://schemas.openxmlformats.org/officeDocument/2006/relationships" r:id="Re4bdd09a340b4731"/>
    </p:embeddedFont>
    <p:embeddedFont>
      <p:font typeface="DM Sans"/>
      <p:regular xmlns:r="http://schemas.openxmlformats.org/officeDocument/2006/relationships" r:id="Rd6d0cf815f5f48fe"/>
      <p:bold xmlns:r="http://schemas.openxmlformats.org/officeDocument/2006/relationships" r:id="Rd5b24847e0eb4b26"/>
      <p:italic xmlns:r="http://schemas.openxmlformats.org/officeDocument/2006/relationships" r:id="Rdf6b102392744138"/>
      <p:boldItalic xmlns:r="http://schemas.openxmlformats.org/officeDocument/2006/relationships" r:id="R49eb799028494b82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4F38645-2EEC-4431-84BF-315B45517CC5}">
  <a:tblStyle styleId="{54F38645-2EEC-4431-84BF-315B45517CC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1266B1E4-277B-4343-98BD-37EB7D21A50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521af001534d67" /><Relationship Type="http://schemas.openxmlformats.org/officeDocument/2006/relationships/slideMaster" Target="/ppt/slideMasters/slideMaster1.xml" Id="R8b629299cc6f4c34" /><Relationship Type="http://schemas.openxmlformats.org/officeDocument/2006/relationships/notesMaster" Target="/ppt/notesMasters/notesMaster1.xml" Id="R9fbf5ea2c3ab4426" /><Relationship Type="http://schemas.openxmlformats.org/officeDocument/2006/relationships/presProps" Target="/ppt/presProps.xml" Id="Rd5e65ff01beb4610" /><Relationship Type="http://schemas.openxmlformats.org/officeDocument/2006/relationships/tableStyles" Target="/ppt/tableStyles.xml" Id="R722ce3581be84ef7" /><Relationship Type="http://schemas.openxmlformats.org/officeDocument/2006/relationships/font" Target="/ppt/fonts/font.dat" Id="R57a9086be89847bc" /><Relationship Type="http://schemas.openxmlformats.org/officeDocument/2006/relationships/font" Target="/ppt/fonts/font2.dat" Id="R73c6d3288f0b4f25" /><Relationship Type="http://schemas.openxmlformats.org/officeDocument/2006/relationships/font" Target="/ppt/fonts/font3.dat" Id="R7c488f157f10443c" /><Relationship Type="http://schemas.openxmlformats.org/officeDocument/2006/relationships/font" Target="/ppt/fonts/font4.dat" Id="Rae62b87fc0e24bd8" /><Relationship Type="http://schemas.openxmlformats.org/officeDocument/2006/relationships/font" Target="/ppt/fonts/font5.dat" Id="Rb756f35044334ae9" /><Relationship Type="http://schemas.openxmlformats.org/officeDocument/2006/relationships/font" Target="/ppt/fonts/font6.dat" Id="Re4bdd09a340b4731" /><Relationship Type="http://schemas.openxmlformats.org/officeDocument/2006/relationships/font" Target="/ppt/fonts/font7.dat" Id="Rd6d0cf815f5f48fe" /><Relationship Type="http://schemas.openxmlformats.org/officeDocument/2006/relationships/font" Target="/ppt/fonts/font8.dat" Id="Rd5b24847e0eb4b26" /><Relationship Type="http://schemas.openxmlformats.org/officeDocument/2006/relationships/font" Target="/ppt/fonts/font9.dat" Id="Rdf6b102392744138" /><Relationship Type="http://schemas.openxmlformats.org/officeDocument/2006/relationships/font" Target="/ppt/fonts/font10.dat" Id="R49eb799028494b82" /><Relationship Type="http://schemas.openxmlformats.org/officeDocument/2006/relationships/slide" Target="/ppt/slides/slide1.xml" Id="R613564e87fc04ffa" /><Relationship Type="http://schemas.openxmlformats.org/officeDocument/2006/relationships/slide" Target="/ppt/slides/slide2.xml" Id="R7c686f740f4c40a7" /><Relationship Type="http://schemas.openxmlformats.org/officeDocument/2006/relationships/slide" Target="/ppt/slides/slide3.xml" Id="R56387493e5a849fc" /><Relationship Type="http://schemas.openxmlformats.org/officeDocument/2006/relationships/slide" Target="/ppt/slides/slide4.xml" Id="Rfe5ce54d3ad84b91" /><Relationship Type="http://schemas.openxmlformats.org/officeDocument/2006/relationships/slide" Target="/ppt/slides/slide5.xml" Id="R11df6e75fb97496d" /><Relationship Type="http://schemas.openxmlformats.org/officeDocument/2006/relationships/slide" Target="/ppt/slides/slide6.xml" Id="Reed4ed7514a84eb1" /><Relationship Type="http://schemas.openxmlformats.org/officeDocument/2006/relationships/slide" Target="/ppt/slides/slide7.xml" Id="R83df34fb2c544a5a" /><Relationship Type="http://schemas.openxmlformats.org/officeDocument/2006/relationships/slide" Target="/ppt/slides/slide8.xml" Id="R814883b61e0f4217" /><Relationship Type="http://schemas.openxmlformats.org/officeDocument/2006/relationships/slide" Target="/ppt/slides/slide9.xml" Id="Rdbfd6d7e231049a1" /><Relationship Type="http://schemas.openxmlformats.org/officeDocument/2006/relationships/slide" Target="/ppt/slides/slide10.xml" Id="Recd96ab7ac9445d5" /><Relationship Type="http://schemas.openxmlformats.org/officeDocument/2006/relationships/slide" Target="/ppt/slides/slide11.xml" Id="Rad04bc83ec7f40f6" /><Relationship Type="http://schemas.openxmlformats.org/officeDocument/2006/relationships/slide" Target="/ppt/slides/slide12.xml" Id="R55bf14d1a68f40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c35aed69bc4e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rcetus template">
  <a:themeElements>
    <a:clrScheme name="Custom 347">
      <a:dk1>
        <a:srgbClr val="00162A"/>
      </a:dk1>
      <a:lt1>
        <a:srgbClr val="FFFFFF"/>
      </a:lt1>
      <a:dk2>
        <a:srgbClr val="ABB8C0"/>
      </a:dk2>
      <a:lt2>
        <a:srgbClr val="F0F2F3"/>
      </a:lt2>
      <a:accent1>
        <a:srgbClr val="05B3F1"/>
      </a:accent1>
      <a:accent2>
        <a:srgbClr val="0073BB"/>
      </a:accent2>
      <a:accent3>
        <a:srgbClr val="B8DD63"/>
      </a:accent3>
      <a:accent4>
        <a:srgbClr val="78B329"/>
      </a:accent4>
      <a:accent5>
        <a:srgbClr val="FF9367"/>
      </a:accent5>
      <a:accent6>
        <a:srgbClr val="EE2424"/>
      </a:accent6>
      <a:hlink>
        <a:srgbClr val="05B3F1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34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26f95214b847d5" /><Relationship Type="http://schemas.openxmlformats.org/officeDocument/2006/relationships/notesMaster" Target="/ppt/notesMasters/notesMaster1.xml" Id="Rd2c6d1df81a441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1444fb23f145e0" /><Relationship Type="http://schemas.openxmlformats.org/officeDocument/2006/relationships/notesMaster" Target="/ppt/notesMasters/notesMaster1.xml" Id="Rb69ca1cc2cf14b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392a9f04db4bc5" /><Relationship Type="http://schemas.openxmlformats.org/officeDocument/2006/relationships/notesMaster" Target="/ppt/notesMasters/notesMaster1.xml" Id="R0791ec82d6cd4a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f0bab6516044e2" /><Relationship Type="http://schemas.openxmlformats.org/officeDocument/2006/relationships/notesMaster" Target="/ppt/notesMasters/notesMaster1.xml" Id="R6057f54313a048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513a3b38004e56" /><Relationship Type="http://schemas.openxmlformats.org/officeDocument/2006/relationships/notesMaster" Target="/ppt/notesMasters/notesMaster1.xml" Id="Re9000f6d6f6542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c739eb28a746c0" /><Relationship Type="http://schemas.openxmlformats.org/officeDocument/2006/relationships/notesMaster" Target="/ppt/notesMasters/notesMaster1.xml" Id="R3a51f1d83c014e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e77da2f5dc416f" /><Relationship Type="http://schemas.openxmlformats.org/officeDocument/2006/relationships/notesMaster" Target="/ppt/notesMasters/notesMaster1.xml" Id="Redac2afc8d9043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67512506bd4606" /><Relationship Type="http://schemas.openxmlformats.org/officeDocument/2006/relationships/notesMaster" Target="/ppt/notesMasters/notesMaster1.xml" Id="R1e1f7816476e48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ec30d8ddbc436c" /><Relationship Type="http://schemas.openxmlformats.org/officeDocument/2006/relationships/notesMaster" Target="/ppt/notesMasters/notesMaster1.xml" Id="R155b7844cc1c4f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635cb46e4845a3" /><Relationship Type="http://schemas.openxmlformats.org/officeDocument/2006/relationships/notesMaster" Target="/ppt/notesMasters/notesMaster1.xml" Id="Rce2b416e103145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84d16683cd4c9a" /><Relationship Type="http://schemas.openxmlformats.org/officeDocument/2006/relationships/notesMaster" Target="/ppt/notesMasters/notesMaster1.xml" Id="Rde8c47736cba40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181eb0e4c547bb" /><Relationship Type="http://schemas.openxmlformats.org/officeDocument/2006/relationships/notesMaster" Target="/ppt/notesMasters/notesMaster1.xml" Id="R30a1634c8b6847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23.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scope: docs/approved-plan.md. No clinician interview or usability study has been performed.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Project-specific event protocol; threshold context: Battelino et al., International Consensus on Time in Range (2019), https://pubmed.ncbi.nlm.nih.gov/31177185/. The episode protocol is not an emergency definition or a treatment trigger.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4.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model/README.md, model/REAL_BENCHMARK.md, public/model-evidence.json, model/real-benchmark-evidence.json. Zhao et al. (2023), https://doi.org/10.1038/s41597-023-01940-7.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8.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Implementation: src/App.tsx and src/lib/engine.ts. Session-only notes and acknowledgments never contact a clinical system. No live EHR or sensor connection.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22.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Implementation: src/lib/engine.ts, src/App.tsx, model/train.py, model/benchmark_real.py. Browser runs synthetic JSON coefficients; the real benchmark exports aggregates only.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17.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model/README.md and public/model-evidence.json. Synthetic persistence 120-minute MAE 19.55 mg/dL; clipped linear trend 33.85 mg/dL. The bands use validation 90th percentile absolute residuals; marginal coverage is measured per horizon.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8.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public/model-evidence.json; seed 20261009; split 144/48/48 people. Average precision is labeled PR-AUC. Threshold 0.15 selected on validation. Patient bootstrap uses 300 resamples; fused PR-AUC 95% interval 0.2731 to 0.3581. Generator-driven evidence only.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19.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model/real-benchmark-evidence.json. ShanghaiT2DM v5, https://doi.org/10.6084/m9.figshare.21600933.v5, CC BY 4.0. 60/20/20 patient split; 20,687 eligible test windows. Average precision is labeled PR-AUC. Paired cluster bootstrap: 300 resamples of 20 test people.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19.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model/real-benchmark-evidence.json, model/REAL_BENCHMARK.md. At threshold 0.20 chosen on validation: precision 0.289, recall 0.505, Brier 0.0787. 120-minute alert cooldown per recording. Episodes and alerts separately deduplicated; one alert may warn multiple episodes. Denominator is recorded-span time, including gaps and current-high periods.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15.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public/model-demo.json, src/lib/engine.ts, model/test_model.py, model/test_real.py. UI requires nine samples; synthetic training requires at least five. Real benchmark requires 24 contiguous past/current samples. UI 30-minute stale limit is an engineering policy.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18.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README.md, model/README.md, model/REAL_BENCHMARK.md, docs/CONTRIBUTIONS.md, docs/THIRD_PARTY_NOTICES.md. Dataset: Zhao et al. (2023), https://doi.org/10.1038/s41597-023-01940-7; release https://doi.org/10.6084/m9.figshare.21600933.v5, CC BY 4.0 https://creativecommons.org/licenses/by/4.0/. Derived trailing features and aggregate evaluation are modifications.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template: SlidesCarnival, Dercetus / Minimal Medical, https://www.slidescarnival.com/template/dercetus-free-presentation-template/4716. CC BY 4.0, https://www.slidescarnival.com/terms-of-use/. Adapted text, charts and screenshot. Template original slide 24.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dbd15f7c54c6d" /><Relationship Type="http://schemas.openxmlformats.org/officeDocument/2006/relationships/image" Target="/ppt/media/image.jpeg" Id="Rfd2cafc3553f492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491de729324ef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5b96a64af4e40" /><Relationship Type="http://schemas.openxmlformats.org/officeDocument/2006/relationships/image" Target="/ppt/media/image2.jpeg" Id="R0d6aa48b0e1a42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b1dc9758842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a983734e2d477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09ff9d5ea4a2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337c1722db496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95e3ddfeaf486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0d9ad9f1ac4d9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f29fe41ef47a3" /></Relationships>
</file>

<file path=ppt/slideLayouts/slideLayout1.xml><?xml version="1.0" encoding="utf-8"?>
<p:sldLayout xmlns:p="http://schemas.openxmlformats.org/presentationml/2006/main" matchingName="Title" type="title">
  <p:cSld name="TITLE">
    <p:bg>
      <p:bgPr>
        <a:blipFill xmlns:a="http://schemas.openxmlformats.org/drawingml/2006/main">
          <a:blip xmlns:r="http://schemas.openxmlformats.org/officeDocument/2006/relationships" r:embed="Rfd2cafc3553f492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4B3EE41-C6DB-4431-BA9B-16D916E7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48000" cy="5143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0"/>
                </a:srgbClr>
              </a:gs>
              <a:gs pos="100000">
                <a:schemeClr val="accent1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7DD4C5F6-D243-4EE7-8FC5-6C50F5F9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46600"/>
            <a:ext cx="6096000" cy="1739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  <a:effectLst xmlns:a="http://schemas.openxmlformats.org/drawingml/2006/main">
            <a:outerShdw blurRad="271463" dist="66675" algn="bl" rotWithShape="0">
              <a:schemeClr val="dk1">
                <a:alpha val="30000"/>
              </a:scheme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B848B352-76F1-458C-8F2F-98AB0D816AD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44750" y="3059700"/>
            <a:ext cx="5647800" cy="150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 matchingName="Subtitle">
  <p:cSld name="TITLE_1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4D7CB65E-AC83-4DE3-AA98-95531DA7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3350"/>
            <a:ext cx="7404300" cy="1739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  <a:effectLst xmlns:a="http://schemas.openxmlformats.org/drawingml/2006/main">
            <a:outerShdw blurRad="271463" dist="66675" algn="bl" rotWithShape="0">
              <a:schemeClr val="dk1">
                <a:alpha val="30000"/>
              </a:scheme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196A0D6F-C4F9-4B0D-8BFB-4C01D9E8924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012775" y="2049850"/>
            <a:ext cx="5109300" cy="48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F62CB7DE-02F8-4371-88A3-9359DD3A94A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12775" y="2553550"/>
            <a:ext cx="5109300" cy="30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19651E29-BB73-4BDB-83D3-76C57AA0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3250"/>
            <a:ext cx="1739700" cy="1739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Quote">
  <p:cSld name="TITLE_1_1">
    <p:bg>
      <p:bgPr>
        <a:blipFill xmlns:a="http://schemas.openxmlformats.org/drawingml/2006/main">
          <a:blip xmlns:r="http://schemas.openxmlformats.org/officeDocument/2006/relationships" r:embed="R0d6aa48b0e1a426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CA4632FF-4CCC-4E4E-BFCB-0276F075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263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>
            <a:extLst xmlns:a="http://schemas.openxmlformats.org/drawingml/2006/main">
              <a:ext uri="{FF2B5EF4-FFF2-40B4-BE49-F238E27FC236}">
                <a16:creationId xmlns:a16="http://schemas.microsoft.com/office/drawing/2014/main" id="{68505C93-D3B8-408B-AFFC-FAB0328466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337138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1" name="Google Shape;21;p4">
            <a:extLst xmlns:a="http://schemas.openxmlformats.org/drawingml/2006/main">
              <a:ext uri="{FF2B5EF4-FFF2-40B4-BE49-F238E27FC236}">
                <a16:creationId xmlns:a16="http://schemas.microsoft.com/office/drawing/2014/main" id="{4AF353CA-9488-400D-8710-3343433A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75" y="469800"/>
            <a:ext cx="8204100" cy="42039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A346849C-EF4D-424F-922F-1ABEB3A07B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346350" y="1385300"/>
            <a:ext cx="6451500" cy="819900"/>
          </a:xfrm>
          <a:prstGeom xmlns:a="http://schemas.openxmlformats.org/drawingml/2006/main" prst="rect">
            <a:avLst/>
          </a:prstGeom>
          <a:effectLst xmlns:a="http://schemas.openxmlformats.org/drawingml/2006/main">
            <a:outerShdw blurRad="42863" dist="9525" dir="5400000" algn="bl" rotWithShape="0">
              <a:srgbClr val="1C4587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431800" algn="ctr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1pPr>
            <a:lvl2pPr marL="9144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2pPr>
            <a:lvl3pPr marL="13716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3pPr>
            <a:lvl4pPr marL="18288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4pPr>
            <a:lvl5pPr marL="22860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5pPr>
            <a:lvl6pPr marL="27432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6pPr>
            <a:lvl7pPr marL="32004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7pPr>
            <a:lvl8pPr marL="36576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8pPr>
            <a:lvl9pPr marL="4114800" indent="-431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Char char="▫"/>
              <a:defRPr sz="3200" b="1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3" name="Google Shape;23;p4">
            <a:extLst xmlns:a="http://schemas.openxmlformats.org/drawingml/2006/main">
              <a:ext uri="{FF2B5EF4-FFF2-40B4-BE49-F238E27FC236}">
                <a16:creationId xmlns:a16="http://schemas.microsoft.com/office/drawing/2014/main" id="{3FCADEF1-F145-4A1D-BEC4-F6AE0868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400" y="476569"/>
            <a:ext cx="1957200" cy="65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600" b="1">
                <a:solidFill>
                  <a:schemeClr val="lt1"/>
                </a:solidFill>
              </a:rPr>
              <a:t>“</a:t>
            </a:r>
            <a:endParaRPr sz="9600" b="1">
              <a:solidFill>
                <a:schemeClr val="lt1"/>
              </a:solidFill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+ 1 column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7D956FFD-3C73-474A-9362-F15E05DB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000" y="353700"/>
            <a:ext cx="126300" cy="7083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F310611F-C48C-4488-9994-FC202CE2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200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8AE1E076-4750-46C6-B62F-910FA98A9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 xmlns:a="http://schemas.openxmlformats.org/drawingml/2006/main"/>
        </p:txBody>
      </p:sp>
      <p:sp>
        <p:nvSpPr>
          <p:cNvPr id="28" name="Google Shape;28;p5">
            <a:extLst xmlns:a="http://schemas.openxmlformats.org/drawingml/2006/main">
              <a:ext uri="{FF2B5EF4-FFF2-40B4-BE49-F238E27FC236}">
                <a16:creationId xmlns:a16="http://schemas.microsoft.com/office/drawing/2014/main" id="{8916B7F0-2247-4391-9581-734ABC94F7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68721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81000">
              <a:spcBef>
                <a:spcPts val="600"/>
              </a:spcBef>
              <a:spcAft>
                <a:spcPts val="0"/>
              </a:spcAft>
              <a:buSzPts val="2400"/>
              <a:buChar char="▫"/>
              <a:defRPr/>
            </a:lvl1pPr>
            <a:lvl2pPr marL="9144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2pPr>
            <a:lvl3pPr marL="13716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3pPr>
            <a:lvl4pPr marL="18288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4pPr>
            <a:lvl5pPr marL="22860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5pPr>
            <a:lvl6pPr marL="27432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6pPr>
            <a:lvl7pPr marL="32004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7pPr>
            <a:lvl8pPr marL="36576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8pPr>
            <a:lvl9pPr marL="41148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9pPr>
          </a:lstStyle>
          <a:p xmlns:a="http://schemas.openxmlformats.org/drawingml/2006/main"/>
        </p:txBody>
      </p:sp>
      <p:sp>
        <p:nvSpPr>
          <p:cNvPr id="29" name="Google Shape;29;p5">
            <a:extLst xmlns:a="http://schemas.openxmlformats.org/drawingml/2006/main">
              <a:ext uri="{FF2B5EF4-FFF2-40B4-BE49-F238E27FC236}">
                <a16:creationId xmlns:a16="http://schemas.microsoft.com/office/drawing/2014/main" id="{BB87C8C8-6B82-4563-AAED-2C95106365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+ 1 column + image">
  <p:cSld name="TITLE_AND_BODY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A7A078E1-EA59-4FF7-934B-7EE7ED9C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000" y="353700"/>
            <a:ext cx="126300" cy="7083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6">
            <a:extLst xmlns:a="http://schemas.openxmlformats.org/drawingml/2006/main">
              <a:ext uri="{FF2B5EF4-FFF2-40B4-BE49-F238E27FC236}">
                <a16:creationId xmlns:a16="http://schemas.microsoft.com/office/drawing/2014/main" id="{A24C2BC3-3C59-40B0-A6BC-118F94F2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75" y="-3600"/>
            <a:ext cx="3048000" cy="51507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0800025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E807867-7B65-4A57-A36D-E0B648FE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200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49D36C39-D1ED-471E-A3DB-C848CFF451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78E5DA76-06AC-4611-B1E0-8417FA1A6D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44424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 xmlns:a="http://schemas.openxmlformats.org/drawingml/2006/main"/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A5B712A0-9EBD-4924-B15B-FD05AB2452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84150" y="1452350"/>
            <a:ext cx="3963000" cy="3221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81000">
              <a:spcBef>
                <a:spcPts val="600"/>
              </a:spcBef>
              <a:spcAft>
                <a:spcPts val="0"/>
              </a:spcAft>
              <a:buSzPts val="2400"/>
              <a:buChar char="▫"/>
              <a:defRPr/>
            </a:lvl1pPr>
            <a:lvl2pPr marL="9144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2pPr>
            <a:lvl3pPr marL="13716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3pPr>
            <a:lvl4pPr marL="18288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4pPr>
            <a:lvl5pPr marL="22860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5pPr>
            <a:lvl6pPr marL="27432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6pPr>
            <a:lvl7pPr marL="32004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7pPr>
            <a:lvl8pPr marL="36576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8pPr>
            <a:lvl9pPr marL="4114800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matchingName="Title + 2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Google Shape;38;p7">
            <a:extLst xmlns:a="http://schemas.openxmlformats.org/drawingml/2006/main">
              <a:ext uri="{FF2B5EF4-FFF2-40B4-BE49-F238E27FC236}">
                <a16:creationId xmlns:a16="http://schemas.microsoft.com/office/drawing/2014/main" id="{76A82AE6-A43D-4D14-9E94-3086232C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000" y="353700"/>
            <a:ext cx="126300" cy="7083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>
            <a:extLst xmlns:a="http://schemas.openxmlformats.org/drawingml/2006/main">
              <a:ext uri="{FF2B5EF4-FFF2-40B4-BE49-F238E27FC236}">
                <a16:creationId xmlns:a16="http://schemas.microsoft.com/office/drawing/2014/main" id="{60254A98-A990-40CB-837E-F15F7882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200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7">
            <a:extLst xmlns:a="http://schemas.openxmlformats.org/drawingml/2006/main">
              <a:ext uri="{FF2B5EF4-FFF2-40B4-BE49-F238E27FC236}">
                <a16:creationId xmlns:a16="http://schemas.microsoft.com/office/drawing/2014/main" id="{FCCC7E49-7236-4E1E-B009-4E262FDDA3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 xmlns:a="http://schemas.openxmlformats.org/drawingml/2006/main"/>
        </p:txBody>
      </p:sp>
      <p:sp>
        <p:nvSpPr>
          <p:cNvPr id="41" name="Google Shape;41;p7">
            <a:extLst xmlns:a="http://schemas.openxmlformats.org/drawingml/2006/main">
              <a:ext uri="{FF2B5EF4-FFF2-40B4-BE49-F238E27FC236}">
                <a16:creationId xmlns:a16="http://schemas.microsoft.com/office/drawing/2014/main" id="{52897619-0B2F-4161-9B66-A3875BC511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32547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55600">
              <a:spcBef>
                <a:spcPts val="600"/>
              </a:spcBef>
              <a:spcAft>
                <a:spcPts val="0"/>
              </a:spcAft>
              <a:buSzPts val="2000"/>
              <a:buChar char="▫"/>
              <a:defRPr sz="2000"/>
            </a:lvl1pPr>
            <a:lvl2pPr marL="9144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2pPr>
            <a:lvl3pPr marL="13716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3pPr>
            <a:lvl4pPr marL="18288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4pPr>
            <a:lvl5pPr marL="22860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5pPr>
            <a:lvl6pPr marL="27432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6pPr>
            <a:lvl7pPr marL="32004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7pPr>
            <a:lvl8pPr marL="36576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8pPr>
            <a:lvl9pPr marL="41148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9pPr>
          </a:lstStyle>
          <a:p xmlns:a="http://schemas.openxmlformats.org/drawingml/2006/main"/>
        </p:txBody>
      </p:sp>
      <p:sp>
        <p:nvSpPr>
          <p:cNvPr id="42" name="Google Shape;42;p7">
            <a:extLst xmlns:a="http://schemas.openxmlformats.org/drawingml/2006/main">
              <a:ext uri="{FF2B5EF4-FFF2-40B4-BE49-F238E27FC236}">
                <a16:creationId xmlns:a16="http://schemas.microsoft.com/office/drawing/2014/main" id="{33AD68BD-8691-4AE7-A475-5CE7323754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753180" y="1200150"/>
            <a:ext cx="32547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55600">
              <a:spcBef>
                <a:spcPts val="600"/>
              </a:spcBef>
              <a:spcAft>
                <a:spcPts val="0"/>
              </a:spcAft>
              <a:buSzPts val="2000"/>
              <a:buChar char="▫"/>
              <a:defRPr sz="2000"/>
            </a:lvl1pPr>
            <a:lvl2pPr marL="9144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2pPr>
            <a:lvl3pPr marL="13716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3pPr>
            <a:lvl4pPr marL="18288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4pPr>
            <a:lvl5pPr marL="22860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5pPr>
            <a:lvl6pPr marL="27432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6pPr>
            <a:lvl7pPr marL="32004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7pPr>
            <a:lvl8pPr marL="36576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8pPr>
            <a:lvl9pPr marL="4114800" indent="-355600">
              <a:spcBef>
                <a:spcPts val="0"/>
              </a:spcBef>
              <a:spcAft>
                <a:spcPts val="0"/>
              </a:spcAft>
              <a:buSzPts val="2000"/>
              <a:buChar char="▫"/>
              <a:defRPr sz="2000"/>
            </a:lvl9pPr>
          </a:lstStyle>
          <a:p xmlns:a="http://schemas.openxmlformats.org/drawingml/2006/main"/>
        </p:txBody>
      </p:sp>
      <p:sp>
        <p:nvSpPr>
          <p:cNvPr id="43" name="Google Shape;43;p7">
            <a:extLst xmlns:a="http://schemas.openxmlformats.org/drawingml/2006/main">
              <a:ext uri="{FF2B5EF4-FFF2-40B4-BE49-F238E27FC236}">
                <a16:creationId xmlns:a16="http://schemas.microsoft.com/office/drawing/2014/main" id="{6EDF6F5B-47D2-4BF4-8E52-C94614E602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+ 3 columns">
  <p:cSld name="TITLE_AND_TWO_COLUMNS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8">
            <a:extLst xmlns:a="http://schemas.openxmlformats.org/drawingml/2006/main">
              <a:ext uri="{FF2B5EF4-FFF2-40B4-BE49-F238E27FC236}">
                <a16:creationId xmlns:a16="http://schemas.microsoft.com/office/drawing/2014/main" id="{F77DE055-62F4-40A0-90C0-508088BD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000" y="353700"/>
            <a:ext cx="126300" cy="7083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8">
            <a:extLst xmlns:a="http://schemas.openxmlformats.org/drawingml/2006/main">
              <a:ext uri="{FF2B5EF4-FFF2-40B4-BE49-F238E27FC236}">
                <a16:creationId xmlns:a16="http://schemas.microsoft.com/office/drawing/2014/main" id="{82B65C4D-4AE1-40C8-B025-8AFFB4A1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200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8">
            <a:extLst xmlns:a="http://schemas.openxmlformats.org/drawingml/2006/main">
              <a:ext uri="{FF2B5EF4-FFF2-40B4-BE49-F238E27FC236}">
                <a16:creationId xmlns:a16="http://schemas.microsoft.com/office/drawing/2014/main" id="{3C5A7723-CC62-483F-A8B6-A45F7B535D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8">
            <a:extLst xmlns:a="http://schemas.openxmlformats.org/drawingml/2006/main">
              <a:ext uri="{FF2B5EF4-FFF2-40B4-BE49-F238E27FC236}">
                <a16:creationId xmlns:a16="http://schemas.microsoft.com/office/drawing/2014/main" id="{0085B1C6-9E82-4BD7-B1B6-1B3BDDF19A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21348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30200">
              <a:spcBef>
                <a:spcPts val="600"/>
              </a:spcBef>
              <a:spcAft>
                <a:spcPts val="0"/>
              </a:spcAft>
              <a:buSzPts val="1600"/>
              <a:buChar char="▫"/>
              <a:defRPr sz="1600"/>
            </a:lvl1pPr>
            <a:lvl2pPr marL="9144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2pPr>
            <a:lvl3pPr marL="13716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3pPr>
            <a:lvl4pPr marL="18288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4pPr>
            <a:lvl5pPr marL="22860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5pPr>
            <a:lvl6pPr marL="27432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6pPr>
            <a:lvl7pPr marL="32004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7pPr>
            <a:lvl8pPr marL="36576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8pPr>
            <a:lvl9pPr marL="41148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9pPr>
          </a:lstStyle>
          <a:p xmlns:a="http://schemas.openxmlformats.org/drawingml/2006/main"/>
        </p:txBody>
      </p:sp>
      <p:sp>
        <p:nvSpPr>
          <p:cNvPr id="49" name="Google Shape;49;p8">
            <a:extLst xmlns:a="http://schemas.openxmlformats.org/drawingml/2006/main">
              <a:ext uri="{FF2B5EF4-FFF2-40B4-BE49-F238E27FC236}">
                <a16:creationId xmlns:a16="http://schemas.microsoft.com/office/drawing/2014/main" id="{136AA1A2-04C4-4616-B391-F5F46CF6D5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472501" y="1200150"/>
            <a:ext cx="21348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30200">
              <a:spcBef>
                <a:spcPts val="600"/>
              </a:spcBef>
              <a:spcAft>
                <a:spcPts val="0"/>
              </a:spcAft>
              <a:buSzPts val="1600"/>
              <a:buChar char="▫"/>
              <a:defRPr sz="1600"/>
            </a:lvl1pPr>
            <a:lvl2pPr marL="9144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2pPr>
            <a:lvl3pPr marL="13716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3pPr>
            <a:lvl4pPr marL="18288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4pPr>
            <a:lvl5pPr marL="22860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5pPr>
            <a:lvl6pPr marL="27432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6pPr>
            <a:lvl7pPr marL="32004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7pPr>
            <a:lvl8pPr marL="36576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8pPr>
            <a:lvl9pPr marL="41148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9pPr>
          </a:lstStyle>
          <a:p xmlns:a="http://schemas.openxmlformats.org/drawingml/2006/main"/>
        </p:txBody>
      </p:sp>
      <p:sp>
        <p:nvSpPr>
          <p:cNvPr id="50" name="Google Shape;50;p8">
            <a:extLst xmlns:a="http://schemas.openxmlformats.org/drawingml/2006/main">
              <a:ext uri="{FF2B5EF4-FFF2-40B4-BE49-F238E27FC236}">
                <a16:creationId xmlns:a16="http://schemas.microsoft.com/office/drawing/2014/main" id="{15382ACB-A8FD-43A1-954F-85BDAF7BB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809002" y="1200150"/>
            <a:ext cx="21348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30200">
              <a:spcBef>
                <a:spcPts val="600"/>
              </a:spcBef>
              <a:spcAft>
                <a:spcPts val="0"/>
              </a:spcAft>
              <a:buSzPts val="1600"/>
              <a:buChar char="▫"/>
              <a:defRPr sz="1600"/>
            </a:lvl1pPr>
            <a:lvl2pPr marL="9144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2pPr>
            <a:lvl3pPr marL="13716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3pPr>
            <a:lvl4pPr marL="18288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4pPr>
            <a:lvl5pPr marL="22860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5pPr>
            <a:lvl6pPr marL="27432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6pPr>
            <a:lvl7pPr marL="32004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7pPr>
            <a:lvl8pPr marL="36576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8pPr>
            <a:lvl9pPr marL="4114800" indent="-330200">
              <a:spcBef>
                <a:spcPts val="0"/>
              </a:spcBef>
              <a:spcAft>
                <a:spcPts val="0"/>
              </a:spcAft>
              <a:buSzPts val="1600"/>
              <a:buChar char="▫"/>
              <a:defRPr sz="1600"/>
            </a:lvl9pPr>
          </a:lstStyle>
          <a:p xmlns:a="http://schemas.openxmlformats.org/drawingml/2006/main"/>
        </p:txBody>
      </p:sp>
      <p:sp>
        <p:nvSpPr>
          <p:cNvPr id="51" name="Google Shape;51;p8">
            <a:extLst xmlns:a="http://schemas.openxmlformats.org/drawingml/2006/main">
              <a:ext uri="{FF2B5EF4-FFF2-40B4-BE49-F238E27FC236}">
                <a16:creationId xmlns:a16="http://schemas.microsoft.com/office/drawing/2014/main" id="{6ACDF50D-E5DA-4CC9-9D29-4FDED683FE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9">
            <a:extLst xmlns:a="http://schemas.openxmlformats.org/drawingml/2006/main">
              <a:ext uri="{FF2B5EF4-FFF2-40B4-BE49-F238E27FC236}">
                <a16:creationId xmlns:a16="http://schemas.microsoft.com/office/drawing/2014/main" id="{B709DAFF-F807-4BE2-8839-A97C2BD0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000" y="353700"/>
            <a:ext cx="126300" cy="7083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9">
            <a:extLst xmlns:a="http://schemas.openxmlformats.org/drawingml/2006/main">
              <a:ext uri="{FF2B5EF4-FFF2-40B4-BE49-F238E27FC236}">
                <a16:creationId xmlns:a16="http://schemas.microsoft.com/office/drawing/2014/main" id="{C4254E88-E35F-4106-B6F0-59BA18FF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200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9">
            <a:extLst xmlns:a="http://schemas.openxmlformats.org/drawingml/2006/main">
              <a:ext uri="{FF2B5EF4-FFF2-40B4-BE49-F238E27FC236}">
                <a16:creationId xmlns:a16="http://schemas.microsoft.com/office/drawing/2014/main" id="{2D142979-0E87-4C3A-AEAC-16F698C56E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9">
            <a:extLst xmlns:a="http://schemas.openxmlformats.org/drawingml/2006/main">
              <a:ext uri="{FF2B5EF4-FFF2-40B4-BE49-F238E27FC236}">
                <a16:creationId xmlns:a16="http://schemas.microsoft.com/office/drawing/2014/main" id="{4170DD87-E2E3-436A-B81F-5F04FC1CBF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Google Shape;58;p10">
            <a:extLst xmlns:a="http://schemas.openxmlformats.org/drawingml/2006/main">
              <a:ext uri="{FF2B5EF4-FFF2-40B4-BE49-F238E27FC236}">
                <a16:creationId xmlns:a16="http://schemas.microsoft.com/office/drawing/2014/main" id="{14809687-FBC1-4810-97F1-C5554223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4200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0">
            <a:extLst xmlns:a="http://schemas.openxmlformats.org/drawingml/2006/main">
              <a:ext uri="{FF2B5EF4-FFF2-40B4-BE49-F238E27FC236}">
                <a16:creationId xmlns:a16="http://schemas.microsoft.com/office/drawing/2014/main" id="{309677BE-AA81-408A-843E-F55EBD14EB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64125" y="4435200"/>
            <a:ext cx="84225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marL="457200" indent="-228600">
              <a:spcBef>
                <a:spcPts val="360"/>
              </a:spcBef>
              <a:spcAft>
                <a:spcPts val="0"/>
              </a:spcAft>
              <a:buSzPts val="1400"/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60" name="Google Shape;60;p10">
            <a:extLst xmlns:a="http://schemas.openxmlformats.org/drawingml/2006/main">
              <a:ext uri="{FF2B5EF4-FFF2-40B4-BE49-F238E27FC236}">
                <a16:creationId xmlns:a16="http://schemas.microsoft.com/office/drawing/2014/main" id="{A3ED8C6F-3AAE-4096-A0D2-FEA2530496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61" name="Google Shape;61;p10">
            <a:extLst xmlns:a="http://schemas.openxmlformats.org/drawingml/2006/main">
              <a:ext uri="{FF2B5EF4-FFF2-40B4-BE49-F238E27FC236}">
                <a16:creationId xmlns:a16="http://schemas.microsoft.com/office/drawing/2014/main" id="{D6FEBC3D-2175-4030-8DE8-9C9AC658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000" y="4435200"/>
            <a:ext cx="126300" cy="7083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11">
            <a:extLst xmlns:a="http://schemas.openxmlformats.org/drawingml/2006/main">
              <a:ext uri="{FF2B5EF4-FFF2-40B4-BE49-F238E27FC236}">
                <a16:creationId xmlns:a16="http://schemas.microsoft.com/office/drawing/2014/main" id="{6A73A0E2-4F6C-42A4-90AC-71A8B27D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000" y="-25"/>
            <a:ext cx="9150900" cy="5143500"/>
          </a:xfrm>
          <a:prstGeom xmlns:a="http://schemas.openxmlformats.org/drawingml/2006/main" prst="frame">
            <a:avLst>
              <a:gd name="adj1" fmla="val 2453"/>
            </a:avLst>
          </a:prstGeom>
          <a:gradFill xmlns:a="http://schemas.openxmlformats.org/drawingml/2006/main">
            <a:gsLst>
              <a:gs pos="0">
                <a:srgbClr val="05B3F1">
                  <a:alpha val="21568"/>
                </a:srgbClr>
              </a:gs>
              <a:gs pos="100000">
                <a:schemeClr val="accent1"/>
              </a:gs>
            </a:gsLst>
            <a:lin ang="16200038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1">
            <a:extLst xmlns:a="http://schemas.openxmlformats.org/drawingml/2006/main">
              <a:ext uri="{FF2B5EF4-FFF2-40B4-BE49-F238E27FC236}">
                <a16:creationId xmlns:a16="http://schemas.microsoft.com/office/drawing/2014/main" id="{B12AECE6-64C8-43D7-B6D3-0CE8984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163" y="4673700"/>
            <a:ext cx="469800" cy="469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1">
            <a:extLst xmlns:a="http://schemas.openxmlformats.org/drawingml/2006/main">
              <a:ext uri="{FF2B5EF4-FFF2-40B4-BE49-F238E27FC236}">
                <a16:creationId xmlns:a16="http://schemas.microsoft.com/office/drawing/2014/main" id="{C2B742FB-DFA2-47F0-B398-F478868915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337038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63fc135e054fc8" /><Relationship Type="http://schemas.openxmlformats.org/officeDocument/2006/relationships/slideLayout" Target="/ppt/slideLayouts/slideLayout1.xml" Id="R5d00f6fca8944793" /><Relationship Type="http://schemas.openxmlformats.org/officeDocument/2006/relationships/slideLayout" Target="/ppt/slideLayouts/slideLayout2.xml" Id="Rcbd37d4616be43a4" /><Relationship Type="http://schemas.openxmlformats.org/officeDocument/2006/relationships/slideLayout" Target="/ppt/slideLayouts/slideLayout3.xml" Id="R4f3c11d842d74114" /><Relationship Type="http://schemas.openxmlformats.org/officeDocument/2006/relationships/slideLayout" Target="/ppt/slideLayouts/slideLayout4.xml" Id="R403ebed8ae504578" /><Relationship Type="http://schemas.openxmlformats.org/officeDocument/2006/relationships/slideLayout" Target="/ppt/slideLayouts/slideLayout5.xml" Id="Rfb01ef5cf0534d5b" /><Relationship Type="http://schemas.openxmlformats.org/officeDocument/2006/relationships/slideLayout" Target="/ppt/slideLayouts/slideLayout6.xml" Id="R23385b638628474c" /><Relationship Type="http://schemas.openxmlformats.org/officeDocument/2006/relationships/slideLayout" Target="/ppt/slideLayouts/slideLayout7.xml" Id="Raba4915c55cd4626" /><Relationship Type="http://schemas.openxmlformats.org/officeDocument/2006/relationships/slideLayout" Target="/ppt/slideLayouts/slideLayout8.xml" Id="R73cf0cb4580b48d6" /><Relationship Type="http://schemas.openxmlformats.org/officeDocument/2006/relationships/slideLayout" Target="/ppt/slideLayouts/slideLayout9.xml" Id="Rd38516450b024ef1" /><Relationship Type="http://schemas.openxmlformats.org/officeDocument/2006/relationships/slideLayout" Target="/ppt/slideLayouts/slideLayout10.xml" Id="R720835f2ca914f4e" /></Relationships>
</file>

<file path=ppt/slideMasters/slideMaster1.xml><?xml version="1.0" encoding="utf-8"?>
<p:sldMaster xmlns:p="http://schemas.openxmlformats.org/presentationml/2006/main">
  <p:cSld name="simple-ligh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8499E4ED-72B4-4939-8F1A-F8F82E9F16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1pPr>
            <a:lvl2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2pPr>
            <a:lvl3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3pPr>
            <a:lvl4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4pPr>
            <a:lvl5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5pPr>
            <a:lvl6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6pPr>
            <a:lvl7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7pPr>
            <a:lvl8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8pPr>
            <a:lvl9pPr algn="ctr">
              <a:buNone/>
              <a:defRPr sz="11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0BAF2B5C-88B3-41E5-87E8-A718F653F0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1pPr>
            <a:lvl2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DM Sans"/>
              <a:buNone/>
              <a:defRPr sz="3000" b="1">
                <a:solidFill>
                  <a:schemeClr val="accent1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05E65DC6-B0D6-40D9-979A-4B811683EA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6872100" cy="347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1pPr>
            <a:lvl2pPr marL="9144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2pPr>
            <a:lvl3pPr marL="13716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3pPr>
            <a:lvl4pPr marL="18288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4pPr>
            <a:lvl5pPr marL="22860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5pPr>
            <a:lvl6pPr marL="27432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6pPr>
            <a:lvl7pPr marL="32004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7pPr>
            <a:lvl8pPr marL="36576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8pPr>
            <a:lvl9pPr marL="411480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DM Sans"/>
              <a:buChar char="▫"/>
              <a:defRPr sz="2400">
                <a:solidFill>
                  <a:schemeClr val="dk1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00f6fca8944793"/>
    <p:sldLayoutId xmlns:r="http://schemas.openxmlformats.org/officeDocument/2006/relationships" id="2147483650" r:id="Rcbd37d4616be43a4"/>
    <p:sldLayoutId xmlns:r="http://schemas.openxmlformats.org/officeDocument/2006/relationships" id="2147483651" r:id="R4f3c11d842d74114"/>
    <p:sldLayoutId xmlns:r="http://schemas.openxmlformats.org/officeDocument/2006/relationships" id="2147483652" r:id="R403ebed8ae504578"/>
    <p:sldLayoutId xmlns:r="http://schemas.openxmlformats.org/officeDocument/2006/relationships" id="2147483653" r:id="Rfb01ef5cf0534d5b"/>
    <p:sldLayoutId xmlns:r="http://schemas.openxmlformats.org/officeDocument/2006/relationships" id="2147483654" r:id="R23385b638628474c"/>
    <p:sldLayoutId xmlns:r="http://schemas.openxmlformats.org/officeDocument/2006/relationships" id="2147483655" r:id="Raba4915c55cd4626"/>
    <p:sldLayoutId xmlns:r="http://schemas.openxmlformats.org/officeDocument/2006/relationships" id="2147483656" r:id="R73cf0cb4580b48d6"/>
    <p:sldLayoutId xmlns:r="http://schemas.openxmlformats.org/officeDocument/2006/relationships" id="2147483657" r:id="Rd38516450b024ef1"/>
    <p:sldLayoutId xmlns:r="http://schemas.openxmlformats.org/officeDocument/2006/relationships" id="2147483658" r:id="R720835f2ca914f4e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ercetus template">
  <a:themeElements>
    <a:clrScheme name="Custom 347">
      <a:dk1>
        <a:srgbClr val="00162A"/>
      </a:dk1>
      <a:lt1>
        <a:srgbClr val="FFFFFF"/>
      </a:lt1>
      <a:dk2>
        <a:srgbClr val="ABB8C0"/>
      </a:dk2>
      <a:lt2>
        <a:srgbClr val="F0F2F3"/>
      </a:lt2>
      <a:accent1>
        <a:srgbClr val="05B3F1"/>
      </a:accent1>
      <a:accent2>
        <a:srgbClr val="0073BB"/>
      </a:accent2>
      <a:accent3>
        <a:srgbClr val="B8DD63"/>
      </a:accent3>
      <a:accent4>
        <a:srgbClr val="78B329"/>
      </a:accent4>
      <a:accent5>
        <a:srgbClr val="FF9367"/>
      </a:accent5>
      <a:accent6>
        <a:srgbClr val="EE2424"/>
      </a:accent6>
      <a:hlink>
        <a:srgbClr val="05B3F1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34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bbfbac334dec435a" /><Relationship Type="http://schemas.openxmlformats.org/officeDocument/2006/relationships/notesSlide" Target="/ppt/notesSlides/notesSlide1.xml" Id="R4d5babb96bc444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f0ffcb72c064a97" /><Relationship Type="http://schemas.openxmlformats.org/officeDocument/2006/relationships/notesSlide" Target="/ppt/notesSlides/notesSlide2.xml" Id="Ra0614ac180a546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18fdf358184697" /><Relationship Type="http://schemas.openxmlformats.org/officeDocument/2006/relationships/notesSlide" Target="/ppt/notesSlides/notesSlide3.xml" Id="Rb1665b5fec3440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424feaf0c44ca4" /><Relationship Type="http://schemas.openxmlformats.org/officeDocument/2006/relationships/notesSlide" Target="/ppt/notesSlides/notesSlide4.xml" Id="Re71ea7169ac549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28536bfc442241fa" /><Relationship Type="http://schemas.openxmlformats.org/officeDocument/2006/relationships/image" Target="/ppt/media/image3.jpeg" Id="R1053b28dbbfd4841" /><Relationship Type="http://schemas.openxmlformats.org/officeDocument/2006/relationships/notesSlide" Target="/ppt/notesSlides/notesSlide5.xml" Id="R5669fd16d6294e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01107b09db1747eb" /><Relationship Type="http://schemas.openxmlformats.org/officeDocument/2006/relationships/notesSlide" Target="/ppt/notesSlides/notesSlide6.xml" Id="Rca8b571f07504f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be886d313b4bbb" /><Relationship Type="http://schemas.openxmlformats.org/officeDocument/2006/relationships/notesSlide" Target="/ppt/notesSlides/notesSlide7.xml" Id="R44c45e8c104a4d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7d5e89ae584c4630" /><Relationship Type="http://schemas.openxmlformats.org/officeDocument/2006/relationships/chart" Target="/ppt/slides/charts/chart1.xml" Id="R235fc5d06b494232" /><Relationship Type="http://schemas.openxmlformats.org/officeDocument/2006/relationships/notesSlide" Target="/ppt/notesSlides/notesSlide8.xml" Id="R1f3c5a6675c247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0e630fbd3c504944" /><Relationship Type="http://schemas.openxmlformats.org/officeDocument/2006/relationships/chart" Target="/ppt/slides/charts/chart2.xml" Id="R2bfb2894cb324b99" /><Relationship Type="http://schemas.openxmlformats.org/officeDocument/2006/relationships/notesSlide" Target="/ppt/notesSlides/notesSlide9.xml" Id="R50f1dd6930fd45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c0373c559b234dbb" /><Relationship Type="http://schemas.openxmlformats.org/officeDocument/2006/relationships/notesSlide" Target="/ppt/notesSlides/notesSlide10.xml" Id="Ra4619e797b1e40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b9180b8aee4afa" /><Relationship Type="http://schemas.openxmlformats.org/officeDocument/2006/relationships/notesSlide" Target="/ppt/notesSlides/notesSlide11.xml" Id="R59b3df1268af474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773a72923d84849" /><Relationship Type="http://schemas.openxmlformats.org/officeDocument/2006/relationships/notesSlide" Target="/ppt/notesSlides/notesSlide12.xml" Id="R7d49503ea43d4ee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PR-AUC</c:v>
          </c:tx>
          <c:spPr>
            <a:solidFill xmlns:a="http://schemas.openxmlformats.org/drawingml/2006/main">
              <a:srgbClr val="05B3F1"/>
            </a:solidFill>
          </c:spPr>
          <c:cat>
            <c:strRef>
              <c:f>'Chart Data'!$A$2:$A$5</c:f>
              <c:strCache>
                <c:ptCount val="4"/>
                <c:pt idx="0">
                  <c:v>Persistence</c:v>
                </c:pt>
                <c:pt idx="1">
                  <c:v>Static</c:v>
                </c:pt>
                <c:pt idx="2">
                  <c:v>Dynamic</c:v>
                </c:pt>
                <c:pt idx="3">
                  <c:v>Fused</c:v>
                </c:pt>
              </c:strCache>
            </c:strRef>
          </c:cat>
          <c:val>
            <c:numRef>
              <c:f>'Chart Data'!$B$2:$B$5</c:f>
              <c:numCache>
                <c:formatCode>0.00</c:formatCode>
                <c:ptCount val="4"/>
                <c:pt idx="0">
                  <c:v>0.0773</c:v>
                </c:pt>
                <c:pt idx="1">
                  <c:v>0.1776</c:v>
                </c:pt>
                <c:pt idx="2">
                  <c:v>0.2837</c:v>
                </c:pt>
                <c:pt idx="3">
                  <c:v>0.3205</c:v>
                </c:pt>
              </c:numCache>
            </c:numRef>
          </c:val>
        </c:ser>
        <c:dLbls>
          <c:numFmt formatCode="0.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DM Sans"/>
                  <a:ea typeface="DM Sans"/>
                  <a:cs typeface="DM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DM Sans"/>
                <a:ea typeface="DM Sans"/>
                <a:cs typeface="DM Sans"/>
              </a:defRPr>
            </a:pPr>
          </a:p>
        </c:txPr>
        <c:crossAx val="48672768"/>
      </c:catAx>
      <c:valAx>
        <c:axId val="48672768"/>
        <c:scaling>
          <c:orientation val="minMax"/>
          <c:max val="0.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7EC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DM Sans"/>
                <a:ea typeface="DM Sans"/>
                <a:cs typeface="DM Sans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PR-AUC</c:v>
          </c:tx>
          <c:spPr>
            <a:solidFill xmlns:a="http://schemas.openxmlformats.org/drawingml/2006/main">
              <a:srgbClr val="05B3F1"/>
            </a:solidFill>
          </c:spPr>
          <c:cat>
            <c:strRef>
              <c:f>'Chart Data'!$A$2:$A$5</c:f>
              <c:strCache>
                <c:ptCount val="4"/>
                <c:pt idx="0">
                  <c:v>Persistence</c:v>
                </c:pt>
                <c:pt idx="1">
                  <c:v>Static</c:v>
                </c:pt>
                <c:pt idx="2">
                  <c:v>Dynamic</c:v>
                </c:pt>
                <c:pt idx="3">
                  <c:v>Fused</c:v>
                </c:pt>
              </c:strCache>
            </c:strRef>
          </c:cat>
          <c:val>
            <c:numRef>
              <c:f>'Chart Data'!$B$2:$B$5</c:f>
              <c:numCache>
                <c:formatCode>0.00</c:formatCode>
                <c:ptCount val="4"/>
                <c:pt idx="0">
                  <c:v>0.0995</c:v>
                </c:pt>
                <c:pt idx="1">
                  <c:v>0.1189</c:v>
                </c:pt>
                <c:pt idx="2">
                  <c:v>0.3398</c:v>
                </c:pt>
                <c:pt idx="3">
                  <c:v>0.3422</c:v>
                </c:pt>
              </c:numCache>
            </c:numRef>
          </c:val>
        </c:ser>
        <c:dLbls>
          <c:numFmt formatCode="0.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DM Sans"/>
                  <a:ea typeface="DM Sans"/>
                  <a:cs typeface="DM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DM Sans"/>
                <a:ea typeface="DM Sans"/>
                <a:cs typeface="DM Sans"/>
              </a:defRPr>
            </a:pPr>
          </a:p>
        </c:txPr>
        <c:crossAx val="48672768"/>
      </c:catAx>
      <c:valAx>
        <c:axId val="48672768"/>
        <c:scaling>
          <c:orientation val="minMax"/>
          <c:max val="0.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7EC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DM Sans"/>
                <a:ea typeface="DM Sans"/>
                <a:cs typeface="DM Sans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7" name="Google Shape;337;p34">
            <a:extLst xmlns:a="http://schemas.openxmlformats.org/drawingml/2006/main">
              <a:ext uri="{FF2B5EF4-FFF2-40B4-BE49-F238E27FC236}">
                <a16:creationId xmlns:a16="http://schemas.microsoft.com/office/drawing/2014/main" id="{57688DB5-E2FD-4051-AEFE-170CB1AA7079}"/>
              </a:ext>
            </a:extLst>
          </p:cNvPr>
          <p:cNvSpPr>
            <a:spLocks xmlns:a="http://schemas.openxmlformats.org/drawingml/2006/main" noGrp="1"/>
          </p:cNvSpPr>
          <p:nvPr>
            <p:ph type="ctrTitle" idx="4294967295"/>
          </p:nvPr>
        </p:nvSpPr>
        <p:spPr>
          <a:xfrm xmlns:a="http://schemas.openxmlformats.org/drawingml/2006/main">
            <a:off x="2140050" y="1693575"/>
            <a:ext cx="4863900" cy="71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562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5625">
                <a:latin typeface="DM Sans"/>
                <a:ea typeface="DM Sans"/>
                <a:cs typeface="DM Sans"/>
              </a:defRPr>
            </a:pPr>
            <a:r>
              <a:rPr sz="5625">
                <a:latin typeface="DM Sans"/>
                <a:ea typeface="DM Sans"/>
                <a:cs typeface="DM Sans"/>
              </a:rPr>
              <a:t>GlucoTwin</a:t>
            </a:r>
            <a:endParaRPr sz="6000"/>
          </a:p>
        </p:txBody>
      </p:sp>
      <p:sp>
        <p:nvSpPr>
          <p:cNvPr id="338" name="Google Shape;338;p34">
            <a:extLst xmlns:a="http://schemas.openxmlformats.org/drawingml/2006/main">
              <a:ext uri="{FF2B5EF4-FFF2-40B4-BE49-F238E27FC236}">
                <a16:creationId xmlns:a16="http://schemas.microsoft.com/office/drawing/2014/main" id="{AA942547-E1C2-49A6-8ABE-9960CD02EB26}"/>
              </a:ext>
            </a:extLst>
          </p:cNvPr>
          <p:cNvSpPr>
            <a:spLocks xmlns:a="http://schemas.openxmlformats.org/drawingml/2006/main" noGrp="1"/>
          </p:cNvSpPr>
          <p:nvPr>
            <p:ph type="subTitle" idx="4294967295"/>
          </p:nvPr>
        </p:nvSpPr>
        <p:spPr>
          <a:xfrm xmlns:a="http://schemas.openxmlformats.org/drawingml/2006/main">
            <a:off x="2140050" y="2375550"/>
            <a:ext cx="4863900" cy="78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 algn="ctr">
              <a:defRPr sz="22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250">
                <a:latin typeface="DM Sans"/>
                <a:ea typeface="DM Sans"/>
                <a:cs typeface="DM Sans"/>
              </a:defRPr>
            </a:pPr>
            <a:r>
              <a:rPr sz="2250" b="1">
                <a:latin typeface="DM Sans"/>
                <a:ea typeface="DM Sans"/>
                <a:cs typeface="DM Sans"/>
              </a:rPr>
              <a:t>Two-hour glucose event research</a:t>
            </a:r>
            <a:endParaRPr sz="3600" b="1"/>
          </a:p>
        </p:txBody>
      </p:sp>
      <p:sp>
        <p:nvSpPr>
          <p:cNvPr id="339" name="Google Shape;339;p34">
            <a:extLst xmlns:a="http://schemas.openxmlformats.org/drawingml/2006/main">
              <a:ext uri="{FF2B5EF4-FFF2-40B4-BE49-F238E27FC236}">
                <a16:creationId xmlns:a16="http://schemas.microsoft.com/office/drawing/2014/main" id="{6149A2C5-5EDD-4597-83C3-E4B72A1B7A51}"/>
              </a:ext>
            </a:extLst>
          </p:cNvPr>
          <p:cNvSpPr>
            <a:spLocks xmlns:a="http://schemas.openxmlformats.org/drawingml/2006/main" noGrp="1"/>
          </p:cNvSpPr>
          <p:nvPr>
            <p:ph type="body" idx="4294967295"/>
          </p:nvPr>
        </p:nvSpPr>
        <p:spPr>
          <a:xfrm xmlns:a="http://schemas.openxmlformats.org/drawingml/2006/main">
            <a:off x="2140050" y="3123826"/>
            <a:ext cx="4863900" cy="1088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 algn="ctr">
              <a:defRPr sz="172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600"/>
              </a:spcBef>
              <a:spcAft>
                <a:spcPts val="0"/>
              </a:spcAft>
              <a:buNone/>
              <a:defRPr sz="1725">
                <a:latin typeface="DM Sans"/>
                <a:ea typeface="DM Sans"/>
                <a:cs typeface="DM Sans"/>
              </a:defRPr>
            </a:pPr>
            <a:r>
              <a:rPr sz="1725">
                <a:latin typeface="DM Sans"/>
                <a:ea typeface="DM Sans"/>
                <a:cs typeface="DM Sans"/>
              </a:rPr>
              <a:t>Team dev / J R Deva Dattan</a:t>
            </a:r>
            <a:endParaRPr/>
          </a:p>
          <a:p xmlns:a="http://schemas.openxmlformats.org/drawingml/2006/main">
            <a:pPr marL="0" lvl="0" indent="0" algn="ctr">
              <a:spcBef>
                <a:spcPts val="600"/>
              </a:spcBef>
              <a:spcAft>
                <a:spcPts val="0"/>
              </a:spcAft>
              <a:buNone/>
              <a:defRPr sz="1725">
                <a:latin typeface="DM Sans"/>
                <a:ea typeface="DM Sans"/>
                <a:cs typeface="DM Sans"/>
              </a:defRPr>
            </a:pPr>
            <a:r>
              <a:rPr sz="1725">
                <a:latin typeface="DM Sans"/>
                <a:ea typeface="DM Sans"/>
                <a:cs typeface="DM Sans"/>
              </a:rPr>
              <a:t>Army Institute of Technology, Pune</a:t>
            </a:r>
            <a:endParaRPr/>
          </a:p>
        </p:txBody>
      </p:sp>
      <p:sp>
        <p:nvSpPr>
          <p:cNvPr id="340" name="Google Shape;340;p34">
            <a:extLst xmlns:a="http://schemas.openxmlformats.org/drawingml/2006/main">
              <a:ext uri="{FF2B5EF4-FFF2-40B4-BE49-F238E27FC236}">
                <a16:creationId xmlns:a16="http://schemas.microsoft.com/office/drawing/2014/main" id="{A46AC53B-F065-41DA-BB5F-FC465769AE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337038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B0A2AFC4-3833-13C1-E2BC-5608F810A1BF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01</a:t>
            </a:fld>
            <a:endParaRPr/>
          </a:p>
        </p:txBody>
      </p:sp>
      <p:sp>
        <p:nvSpPr>
          <p:cNvPr id="342" name="Google Shape;342;p34">
            <a:extLst xmlns:a="http://schemas.openxmlformats.org/drawingml/2006/main">
              <a:ext uri="{FF2B5EF4-FFF2-40B4-BE49-F238E27FC236}">
                <a16:creationId xmlns:a16="http://schemas.microsoft.com/office/drawing/2014/main" id="{A152844B-0622-46E4-A334-9A36EF3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01695" y="1156341"/>
            <a:ext cx="740504" cy="466498"/>
          </a:xfrm>
          <a:custGeom xmlns:a="http://schemas.openxmlformats.org/drawingml/2006/main">
            <a:rect l="l" t="t" r="r" b="b"/>
            <a:pathLst>
              <a:path w="317500" h="200025">
                <a:moveTo>
                  <a:pt x="233456" y="11968"/>
                </a:moveTo>
                <a:lnTo>
                  <a:pt x="233456" y="77950"/>
                </a:lnTo>
                <a:cubicBezTo>
                  <a:pt x="248043" y="83210"/>
                  <a:pt x="255687" y="99537"/>
                  <a:pt x="250530" y="114415"/>
                </a:cubicBezTo>
                <a:cubicBezTo>
                  <a:pt x="245372" y="129294"/>
                  <a:pt x="229367" y="137092"/>
                  <a:pt x="214779" y="131832"/>
                </a:cubicBezTo>
                <a:cubicBezTo>
                  <a:pt x="200192" y="126571"/>
                  <a:pt x="192548" y="110244"/>
                  <a:pt x="197705" y="95365"/>
                </a:cubicBezTo>
                <a:cubicBezTo>
                  <a:pt x="200526" y="87228"/>
                  <a:pt x="206802" y="80827"/>
                  <a:pt x="214779" y="77950"/>
                </a:cubicBezTo>
                <a:lnTo>
                  <a:pt x="214779" y="5296"/>
                </a:lnTo>
                <a:cubicBezTo>
                  <a:pt x="202620" y="1818"/>
                  <a:pt x="190055" y="37"/>
                  <a:pt x="177426" y="0"/>
                </a:cubicBezTo>
                <a:lnTo>
                  <a:pt x="140074" y="0"/>
                </a:lnTo>
                <a:cubicBezTo>
                  <a:pt x="127445" y="37"/>
                  <a:pt x="114880" y="1818"/>
                  <a:pt x="102721" y="5296"/>
                </a:cubicBezTo>
                <a:lnTo>
                  <a:pt x="102721" y="76200"/>
                </a:lnTo>
                <a:lnTo>
                  <a:pt x="112075" y="76200"/>
                </a:lnTo>
                <a:cubicBezTo>
                  <a:pt x="132695" y="76200"/>
                  <a:pt x="149412" y="93251"/>
                  <a:pt x="149412" y="114283"/>
                </a:cubicBezTo>
                <a:cubicBezTo>
                  <a:pt x="149412" y="114284"/>
                  <a:pt x="149412" y="114284"/>
                  <a:pt x="149412" y="114284"/>
                </a:cubicBezTo>
                <a:lnTo>
                  <a:pt x="149412" y="171450"/>
                </a:lnTo>
                <a:cubicBezTo>
                  <a:pt x="149412" y="176711"/>
                  <a:pt x="145231" y="180975"/>
                  <a:pt x="140074" y="180975"/>
                </a:cubicBezTo>
                <a:lnTo>
                  <a:pt x="121397" y="180975"/>
                </a:lnTo>
                <a:cubicBezTo>
                  <a:pt x="116240" y="180975"/>
                  <a:pt x="112059" y="176711"/>
                  <a:pt x="112059" y="171450"/>
                </a:cubicBezTo>
                <a:cubicBezTo>
                  <a:pt x="112059" y="166189"/>
                  <a:pt x="116240" y="161925"/>
                  <a:pt x="121397" y="161925"/>
                </a:cubicBezTo>
                <a:lnTo>
                  <a:pt x="130797" y="161925"/>
                </a:lnTo>
                <a:lnTo>
                  <a:pt x="130797" y="114300"/>
                </a:lnTo>
                <a:cubicBezTo>
                  <a:pt x="130798" y="103780"/>
                  <a:pt x="122437" y="95251"/>
                  <a:pt x="112123" y="95250"/>
                </a:cubicBezTo>
                <a:cubicBezTo>
                  <a:pt x="112122" y="95250"/>
                  <a:pt x="112121" y="95250"/>
                  <a:pt x="112120" y="95250"/>
                </a:cubicBezTo>
                <a:lnTo>
                  <a:pt x="74690" y="95250"/>
                </a:lnTo>
                <a:cubicBezTo>
                  <a:pt x="64362" y="95280"/>
                  <a:pt x="55997" y="103813"/>
                  <a:pt x="55968" y="114348"/>
                </a:cubicBezTo>
                <a:lnTo>
                  <a:pt x="55968" y="161925"/>
                </a:lnTo>
                <a:lnTo>
                  <a:pt x="65368" y="161925"/>
                </a:lnTo>
                <a:cubicBezTo>
                  <a:pt x="70525" y="161925"/>
                  <a:pt x="74706" y="166189"/>
                  <a:pt x="74706" y="171450"/>
                </a:cubicBezTo>
                <a:cubicBezTo>
                  <a:pt x="74706" y="176711"/>
                  <a:pt x="70525" y="180975"/>
                  <a:pt x="65368" y="180975"/>
                </a:cubicBezTo>
                <a:lnTo>
                  <a:pt x="46691" y="180975"/>
                </a:lnTo>
                <a:cubicBezTo>
                  <a:pt x="41534" y="180975"/>
                  <a:pt x="37353" y="176711"/>
                  <a:pt x="37353" y="171450"/>
                </a:cubicBezTo>
                <a:lnTo>
                  <a:pt x="37353" y="114300"/>
                </a:lnTo>
                <a:cubicBezTo>
                  <a:pt x="37353" y="93258"/>
                  <a:pt x="54075" y="76200"/>
                  <a:pt x="74704" y="76200"/>
                </a:cubicBezTo>
                <a:cubicBezTo>
                  <a:pt x="74705" y="76200"/>
                  <a:pt x="74705" y="76200"/>
                  <a:pt x="74706" y="76200"/>
                </a:cubicBezTo>
                <a:lnTo>
                  <a:pt x="84044" y="76200"/>
                </a:lnTo>
                <a:lnTo>
                  <a:pt x="84044" y="11968"/>
                </a:lnTo>
                <a:cubicBezTo>
                  <a:pt x="33006" y="34681"/>
                  <a:pt x="9" y="86077"/>
                  <a:pt x="0" y="142875"/>
                </a:cubicBezTo>
                <a:lnTo>
                  <a:pt x="0" y="200025"/>
                </a:lnTo>
                <a:lnTo>
                  <a:pt x="317500" y="200025"/>
                </a:lnTo>
                <a:lnTo>
                  <a:pt x="317500" y="142875"/>
                </a:lnTo>
                <a:cubicBezTo>
                  <a:pt x="317491" y="86077"/>
                  <a:pt x="284493" y="34681"/>
                  <a:pt x="233456" y="11968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3" name="Google Shape;343;p34">
            <a:extLst xmlns:a="http://schemas.openxmlformats.org/drawingml/2006/main">
              <a:ext uri="{FF2B5EF4-FFF2-40B4-BE49-F238E27FC236}">
                <a16:creationId xmlns:a16="http://schemas.microsoft.com/office/drawing/2014/main" id="{9D26338E-F861-465F-8D4A-960C1E1B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54150" y="645414"/>
            <a:ext cx="435589" cy="444284"/>
          </a:xfrm>
          <a:custGeom xmlns:a="http://schemas.openxmlformats.org/drawingml/2006/main">
            <a:rect l="l" t="t" r="r" b="b"/>
            <a:pathLst>
              <a:path w="186764" h="190500">
                <a:moveTo>
                  <a:pt x="186765" y="95250"/>
                </a:moveTo>
                <a:cubicBezTo>
                  <a:pt x="186765" y="147855"/>
                  <a:pt x="144956" y="190500"/>
                  <a:pt x="93382" y="190500"/>
                </a:cubicBezTo>
                <a:cubicBezTo>
                  <a:pt x="41809" y="190500"/>
                  <a:pt x="0" y="147855"/>
                  <a:pt x="0" y="95250"/>
                </a:cubicBezTo>
                <a:cubicBezTo>
                  <a:pt x="0" y="42645"/>
                  <a:pt x="41809" y="0"/>
                  <a:pt x="93382" y="0"/>
                </a:cubicBezTo>
                <a:cubicBezTo>
                  <a:pt x="144956" y="0"/>
                  <a:pt x="186765" y="42645"/>
                  <a:pt x="186765" y="95250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C86525FC-BCF5-4667-A07C-C73CFC24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5767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75" b="1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575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Synthetic demo. Not for clinical decisions.</a:t>
            </a:r>
          </a:p>
        </p:txBody>
      </p:sp>
    </p:spTree>
    <p:extLst>
      <p:ext uri="{BB962C8B-B14F-4D97-AF65-F5344CB8AC3E}">
        <p14:creationId xmlns:p14="http://schemas.microsoft.com/office/powerpoint/2010/main" val="20928403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17">
            <a:extLst xmlns:a="http://schemas.openxmlformats.org/drawingml/2006/main">
              <a:ext uri="{FF2B5EF4-FFF2-40B4-BE49-F238E27FC236}">
                <a16:creationId xmlns:a16="http://schemas.microsoft.com/office/drawing/2014/main" id="{5641EABA-5501-41A3-A789-838A2C6606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300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>
                <a:latin typeface="DM Sans"/>
                <a:ea typeface="DM Sans"/>
                <a:cs typeface="DM Sans"/>
              </a:defRPr>
            </a:pPr>
            <a:r>
              <a:rPr sz="3000">
                <a:latin typeface="DM Sans"/>
                <a:ea typeface="DM Sans"/>
                <a:cs typeface="DM Sans"/>
              </a:rPr>
              <a:t>The review question</a:t>
            </a:r>
            <a:endParaRPr/>
          </a:p>
        </p:txBody>
      </p:sp>
      <p:sp>
        <p:nvSpPr>
          <p:cNvPr id="106" name="Google Shape;106;p17">
            <a:extLst xmlns:a="http://schemas.openxmlformats.org/drawingml/2006/main">
              <a:ext uri="{FF2B5EF4-FFF2-40B4-BE49-F238E27FC236}">
                <a16:creationId xmlns:a16="http://schemas.microsoft.com/office/drawing/2014/main" id="{47E007DE-DC8F-4CE4-94A3-E59E0447EF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68721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217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2175">
                <a:latin typeface="DM Sans"/>
                <a:ea typeface="DM Sans"/>
                <a:cs typeface="DM Sans"/>
              </a:defRPr>
            </a:pPr>
            <a:r>
              <a:t>What changed, and can this forecast be trusted?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2175">
                <a:latin typeface="DM Sans"/>
                <a:ea typeface="DM Sans"/>
                <a:cs typeface="DM Sans"/>
              </a:defRPr>
            </a:pPr>
            <a:r>
              <a:t>A proposed clinician-facing workflow for simulated Type 2 diabetes review.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2175">
                <a:latin typeface="DM Sans"/>
                <a:ea typeface="DM Sans"/>
                <a:cs typeface="DM Sans"/>
              </a:defRPr>
            </a:pPr>
            <a:r>
              <a:t>Inspect inputs, advance replay, then compare the observed outcome.</a:t>
            </a:r>
          </a:p>
        </p:txBody>
      </p:sp>
      <p:sp>
        <p:nvSpPr>
          <p:cNvPr id="107" name="Google Shape;107;p17">
            <a:extLst xmlns:a="http://schemas.openxmlformats.org/drawingml/2006/main">
              <a:ext uri="{FF2B5EF4-FFF2-40B4-BE49-F238E27FC236}">
                <a16:creationId xmlns:a16="http://schemas.microsoft.com/office/drawing/2014/main" id="{5C24FDBC-E06A-4456-85F8-AB08F0B5DC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CBAEABBA-AD62-52D1-5588-17C604158753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02</a:t>
            </a:fld>
            <a:endParaRPr/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366DFAA-E05D-4367-B4FD-4F82D3BF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324350"/>
            <a:ext cx="690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456375"/>
                </a:solidFill>
                <a:latin typeface="DM Sans"/>
                <a:ea typeface="DM Sans"/>
                <a:cs typeface="DM Sans"/>
              </a:rPr>
              <a:t>No clinician interview or usability study has been performed.</a:t>
            </a:r>
          </a:p>
        </p:txBody>
      </p:sp>
    </p:spTree>
    <p:extLst>
      <p:ext uri="{BB962C8B-B14F-4D97-AF65-F5344CB8AC3E}">
        <p14:creationId xmlns:p14="http://schemas.microsoft.com/office/powerpoint/2010/main" val="16163041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Google Shape;92;p15">
            <a:extLst xmlns:a="http://schemas.openxmlformats.org/drawingml/2006/main">
              <a:ext uri="{FF2B5EF4-FFF2-40B4-BE49-F238E27FC236}">
                <a16:creationId xmlns:a16="http://schemas.microsoft.com/office/drawing/2014/main" id="{53740E43-9A72-44F4-8D0F-FF8E63E3C3C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012775" y="2049850"/>
            <a:ext cx="5109300" cy="48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defPPr>
              <a:defRPr sz="337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375">
                <a:latin typeface="DM Sans"/>
                <a:ea typeface="DM Sans"/>
                <a:cs typeface="DM Sans"/>
              </a:defRPr>
            </a:pPr>
            <a:r>
              <a:rPr sz="3375">
                <a:latin typeface="DM Sans"/>
                <a:ea typeface="DM Sans"/>
                <a:cs typeface="DM Sans"/>
              </a:rPr>
              <a:t>minutes ahead</a:t>
            </a:r>
            <a:endParaRPr/>
          </a:p>
        </p:txBody>
      </p:sp>
      <p:sp>
        <p:nvSpPr>
          <p:cNvPr id="93" name="Google Shape;93;p15">
            <a:extLst xmlns:a="http://schemas.openxmlformats.org/drawingml/2006/main">
              <a:ext uri="{FF2B5EF4-FFF2-40B4-BE49-F238E27FC236}">
                <a16:creationId xmlns:a16="http://schemas.microsoft.com/office/drawing/2014/main" id="{A53260A5-7C3B-4610-82A4-794A47C8C7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12775" y="2553550"/>
            <a:ext cx="5109300" cy="30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80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latin typeface="DM Sans"/>
                <a:ea typeface="DM Sans"/>
                <a:cs typeface="DM Sans"/>
              </a:defRPr>
            </a:pPr>
            <a:r>
              <a:rPr sz="1800">
                <a:latin typeface="DM Sans"/>
                <a:ea typeface="DM Sans"/>
                <a:cs typeface="DM Sans"/>
              </a:rPr>
              <a:t>Two consecutive future readings &gt;180 mg/dL</a:t>
            </a:r>
            <a:endParaRPr/>
          </a:p>
        </p:txBody>
      </p:sp>
      <p:sp>
        <p:nvSpPr>
          <p:cNvPr id="94" name="Google Shape;94;p15">
            <a:extLst xmlns:a="http://schemas.openxmlformats.org/drawingml/2006/main">
              <a:ext uri="{FF2B5EF4-FFF2-40B4-BE49-F238E27FC236}">
                <a16:creationId xmlns:a16="http://schemas.microsoft.com/office/drawing/2014/main" id="{7179F146-0BA5-4BD1-86D6-D461E679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1857375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defPPr>
              <a:defRPr sz="64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450">
                <a:latin typeface="DM Sans"/>
                <a:ea typeface="DM Sans"/>
                <a:cs typeface="DM Sans"/>
              </a:defRPr>
            </a:pPr>
            <a:r>
              <a:rPr sz="6450" b="1">
                <a:solidFill>
                  <a:schemeClr val="accent1"/>
                </a:solidFill>
                <a:latin typeface="DM Sans"/>
                <a:ea typeface="DM Sans"/>
                <a:cs typeface="DM Sans"/>
              </a:rPr>
              <a:t>120</a:t>
            </a:r>
            <a:endParaRPr sz="9600" b="1">
              <a:solidFill>
                <a:schemeClr val="accent1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02C7CE1-ACEF-49F5-A908-2A2A6B02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623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15-minute samples. Both readings must lie in the next 120 minutes.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166F931-C39A-44C2-A3B5-F1E87D5E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57675"/>
            <a:ext cx="762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Current &gt;180: no new-event estimate. Missing future data: unknown outcome.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Two readings span 15 minutes, not 30.</a:t>
            </a:r>
          </a:p>
        </p:txBody>
      </p:sp>
    </p:spTree>
    <p:extLst>
      <p:ext uri="{BB962C8B-B14F-4D97-AF65-F5344CB8AC3E}">
        <p14:creationId xmlns:p14="http://schemas.microsoft.com/office/powerpoint/2010/main" val="17755557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889E565F-D455-441D-A9C7-96ECF4B376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32547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87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 b="1">
                <a:latin typeface="DM Sans"/>
                <a:ea typeface="DM Sans"/>
                <a:cs typeface="DM Sans"/>
              </a:rPr>
              <a:t>Browser demonstration</a:t>
            </a:r>
            <a:endParaRPr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240 fictional people. Four selected held-out traces. Static context affects the generator by design.</a:t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Engineering evidence only.</a:t>
            </a:r>
            <a:endParaRPr/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1C7C11B3-95E4-4072-B51B-C7FD754D19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28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850">
                <a:latin typeface="DM Sans"/>
                <a:ea typeface="DM Sans"/>
                <a:cs typeface="DM Sans"/>
              </a:defRPr>
            </a:pPr>
            <a:r>
              <a:rPr sz="2850">
                <a:latin typeface="DM Sans"/>
                <a:ea typeface="DM Sans"/>
                <a:cs typeface="DM Sans"/>
              </a:rPr>
              <a:t>Synthetic demo and real evidence</a:t>
            </a:r>
            <a:endParaRPr/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1AF4AD0C-4B17-4A7B-8793-C2023BD48B7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753180" y="1200150"/>
            <a:ext cx="32547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87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 b="1">
                <a:latin typeface="DM Sans"/>
                <a:ea typeface="DM Sans"/>
                <a:cs typeface="DM Sans"/>
              </a:rPr>
              <a:t>Retrospective benchmark</a:t>
            </a:r>
            <a:endParaRPr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100 adults, 109 sessions. Separate models and aggregate results. Age and recorded gender only.</a:t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Baseline timing is assumed. All undated labs are excluded.</a:t>
            </a:r>
            <a:endParaRPr/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1F4A52E1-E950-4AF3-BCAC-BC9435BC05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F9970F6C-59B2-055B-5132-2DC31A7003A7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75193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5" name="Google Shape;325;p33">
            <a:extLst xmlns:a="http://schemas.openxmlformats.org/drawingml/2006/main">
              <a:ext uri="{FF2B5EF4-FFF2-40B4-BE49-F238E27FC236}">
                <a16:creationId xmlns:a16="http://schemas.microsoft.com/office/drawing/2014/main" id="{28731E2E-DCA4-4274-A60A-6E2363849D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5370F4AC-E6D1-01EE-6732-05F7C8E78B55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05</a:t>
            </a:fld>
            <a:endParaRPr/>
          </a:p>
        </p:txBody>
      </p:sp>
      <p:sp>
        <p:nvSpPr>
          <p:cNvPr id="327" name="Google Shape;327;p33">
            <a:extLst xmlns:a="http://schemas.openxmlformats.org/drawingml/2006/main">
              <a:ext uri="{FF2B5EF4-FFF2-40B4-BE49-F238E27FC236}">
                <a16:creationId xmlns:a16="http://schemas.microsoft.com/office/drawing/2014/main" id="{0BDA31C9-E2BF-4864-B932-BD013D32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72721" y="856166"/>
            <a:ext cx="4347104" cy="2909778"/>
          </a:xfrm>
          <a:custGeom xmlns:a="http://schemas.openxmlformats.org/drawingml/2006/main">
            <a:rect l="l" t="t" r="r" b="b"/>
            <a:pathLst>
              <a:path w="5161606" h="3454973">
                <a:moveTo>
                  <a:pt x="4992053" y="0"/>
                </a:moveTo>
                <a:lnTo>
                  <a:pt x="170498" y="0"/>
                </a:lnTo>
                <a:cubicBezTo>
                  <a:pt x="76200" y="0"/>
                  <a:pt x="0" y="76143"/>
                  <a:pt x="0" y="170369"/>
                </a:cubicBezTo>
                <a:lnTo>
                  <a:pt x="0" y="3396915"/>
                </a:lnTo>
                <a:cubicBezTo>
                  <a:pt x="0" y="3429275"/>
                  <a:pt x="26670" y="3454973"/>
                  <a:pt x="58102" y="3454973"/>
                </a:cubicBezTo>
                <a:lnTo>
                  <a:pt x="5103495" y="3454973"/>
                </a:lnTo>
                <a:cubicBezTo>
                  <a:pt x="5135880" y="3454973"/>
                  <a:pt x="5161598" y="3428324"/>
                  <a:pt x="5161598" y="3396915"/>
                </a:cubicBezTo>
                <a:lnTo>
                  <a:pt x="5161598" y="170369"/>
                </a:lnTo>
                <a:cubicBezTo>
                  <a:pt x="5162550" y="76143"/>
                  <a:pt x="5086350" y="0"/>
                  <a:pt x="4992053" y="0"/>
                </a:cubicBezTo>
                <a:close/>
                <a:moveTo>
                  <a:pt x="4981575" y="3245581"/>
                </a:moveTo>
                <a:lnTo>
                  <a:pt x="190500" y="3245581"/>
                </a:lnTo>
                <a:lnTo>
                  <a:pt x="190500" y="199874"/>
                </a:lnTo>
                <a:lnTo>
                  <a:pt x="4981575" y="199874"/>
                </a:lnTo>
                <a:lnTo>
                  <a:pt x="4981575" y="3245581"/>
                </a:lnTo>
                <a:close/>
              </a:path>
            </a:pathLst>
          </a:cu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8" name="Google Shape;328;p33">
            <a:extLst xmlns:a="http://schemas.openxmlformats.org/drawingml/2006/main">
              <a:ext uri="{FF2B5EF4-FFF2-40B4-BE49-F238E27FC236}">
                <a16:creationId xmlns:a16="http://schemas.microsoft.com/office/drawing/2014/main" id="{C4EA85A3-3FBF-4DD6-8E5F-54B16CD1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47557" y="3822056"/>
            <a:ext cx="5199029" cy="80158"/>
          </a:xfrm>
          <a:custGeom xmlns:a="http://schemas.openxmlformats.org/drawingml/2006/main">
            <a:rect l="l" t="t" r="r" b="b"/>
            <a:pathLst>
              <a:path w="6173152" h="95178">
                <a:moveTo>
                  <a:pt x="0" y="0"/>
                </a:moveTo>
                <a:cubicBezTo>
                  <a:pt x="0" y="0"/>
                  <a:pt x="129540" y="95178"/>
                  <a:pt x="450533" y="95178"/>
                </a:cubicBezTo>
                <a:lnTo>
                  <a:pt x="5817870" y="95178"/>
                </a:lnTo>
                <a:cubicBezTo>
                  <a:pt x="5948363" y="95178"/>
                  <a:pt x="6173153" y="0"/>
                  <a:pt x="6173153" y="0"/>
                </a:cubicBez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  <a:effectLst xmlns:a="http://schemas.openxmlformats.org/drawingml/2006/main">
            <a:outerShdw blurRad="142875" dist="19050" dir="5400000" algn="bl" rotWithShape="0">
              <a:schemeClr val="dk1">
                <a:alpha val="50000"/>
              </a:scheme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9" name="Google Shape;329;p33">
            <a:extLst xmlns:a="http://schemas.openxmlformats.org/drawingml/2006/main">
              <a:ext uri="{FF2B5EF4-FFF2-40B4-BE49-F238E27FC236}">
                <a16:creationId xmlns:a16="http://schemas.microsoft.com/office/drawing/2014/main" id="{BA102F24-A168-4396-9509-A77C6336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47557" y="3757929"/>
            <a:ext cx="5198227" cy="64126"/>
          </a:xfrm>
          <a:custGeom xmlns:a="http://schemas.openxmlformats.org/drawingml/2006/main">
            <a:rect l="l" t="t" r="r" b="b"/>
            <a:pathLst>
              <a:path w="6172200" h="76142">
                <a:moveTo>
                  <a:pt x="0" y="76143"/>
                </a:moveTo>
                <a:lnTo>
                  <a:pt x="6172200" y="76143"/>
                </a:lnTo>
                <a:lnTo>
                  <a:pt x="61722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0" name="Google Shape;330;p33">
            <a:extLst xmlns:a="http://schemas.openxmlformats.org/drawingml/2006/main">
              <a:ext uri="{FF2B5EF4-FFF2-40B4-BE49-F238E27FC236}">
                <a16:creationId xmlns:a16="http://schemas.microsoft.com/office/drawing/2014/main" id="{45E818B5-4FBD-44B8-B3EC-00946CAC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461617" y="3757929"/>
            <a:ext cx="761283" cy="40079"/>
          </a:xfrm>
          <a:custGeom xmlns:a="http://schemas.openxmlformats.org/drawingml/2006/main">
            <a:rect l="l" t="t" r="r" b="b"/>
            <a:pathLst>
              <a:path w="903922" h="47589">
                <a:moveTo>
                  <a:pt x="0" y="0"/>
                </a:moveTo>
                <a:cubicBezTo>
                  <a:pt x="0" y="0"/>
                  <a:pt x="26670" y="47589"/>
                  <a:pt x="53340" y="47589"/>
                </a:cubicBezTo>
                <a:lnTo>
                  <a:pt x="850582" y="47589"/>
                </a:lnTo>
                <a:cubicBezTo>
                  <a:pt x="877253" y="47589"/>
                  <a:pt x="903922" y="0"/>
                  <a:pt x="903922" y="0"/>
                </a:cubicBez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1" name="Google Shape;331;p33">
            <a:extLst xmlns:a="http://schemas.openxmlformats.org/drawingml/2006/main">
              <a:ext uri="{FF2B5EF4-FFF2-40B4-BE49-F238E27FC236}">
                <a16:creationId xmlns:a16="http://schemas.microsoft.com/office/drawing/2014/main" id="{C2DC0746-8CE4-42D7-A3F6-20A90146B5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84150" y="961050"/>
            <a:ext cx="2463300" cy="3221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180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00">
                <a:latin typeface="DM Sans"/>
                <a:ea typeface="DM Sans"/>
                <a:cs typeface="DM Sans"/>
              </a:defRPr>
            </a:pPr>
            <a:r>
              <a:rPr sz="1800" b="1">
                <a:solidFill>
                  <a:schemeClr val="lt1"/>
                </a:solidFill>
                <a:latin typeface="DM Sans"/>
                <a:ea typeface="DM Sans"/>
                <a:cs typeface="DM Sans"/>
              </a:rPr>
              <a:t>Working review loop</a:t>
            </a:r>
            <a:endParaRPr sz="1800" b="1"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lt1"/>
                </a:solidFill>
              </a:rPr>
              <a:t/>
            </a:r>
            <a:endParaRPr sz="1800"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00">
                <a:latin typeface="DM Sans"/>
                <a:ea typeface="DM Sans"/>
                <a:cs typeface="DM Sans"/>
              </a:defRPr>
            </a:pPr>
            <a:r>
              <a:rPr sz="1800">
                <a:solidFill>
                  <a:schemeClr val="lt1"/>
                </a:solidFill>
                <a:latin typeface="DM Sans"/>
                <a:ea typeface="DM Sans"/>
                <a:cs typeface="DM Sans"/>
              </a:rPr>
              <a:t>Select a fictional patient.</a:t>
            </a:r>
            <a:endParaRPr sz="1800"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00">
                <a:latin typeface="DM Sans"/>
                <a:ea typeface="DM Sans"/>
                <a:cs typeface="DM Sans"/>
              </a:defRPr>
            </a:pPr>
            <a:r>
              <a:rPr sz="1800">
                <a:solidFill>
                  <a:schemeClr val="lt1"/>
                </a:solidFill>
                <a:latin typeface="DM Sans"/>
                <a:ea typeface="DM Sans"/>
                <a:cs typeface="DM Sans"/>
              </a:rPr>
              <a:t>Advance replay.</a:t>
            </a:r>
            <a:endParaRPr sz="1800"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00">
                <a:latin typeface="DM Sans"/>
                <a:ea typeface="DM Sans"/>
                <a:cs typeface="DM Sans"/>
              </a:defRPr>
            </a:pPr>
            <a:r>
              <a:rPr sz="1800">
                <a:solidFill>
                  <a:schemeClr val="lt1"/>
                </a:solidFill>
                <a:latin typeface="DM Sans"/>
                <a:ea typeface="DM Sans"/>
                <a:cs typeface="DM Sans"/>
              </a:rPr>
              <a:t>Inspect inputs and evidence.</a:t>
            </a:r>
            <a:endParaRPr sz="1800">
              <a:solidFill>
                <a:schemeClr val="lt1"/>
              </a:solidFill>
            </a:endParaRPr>
          </a:p>
        </p:txBody>
      </p:sp>
      <p:pic>
        <p:nvPicPr>
          <p:cNvPr id="332" name="Google Shape;332;p33">
            <a:extLst xmlns:a="http://schemas.openxmlformats.org/drawingml/2006/main">
              <a:ext uri="{FF2B5EF4-FFF2-40B4-BE49-F238E27FC236}">
                <a16:creationId xmlns:a16="http://schemas.microsoft.com/office/drawing/2014/main" id="{17AA6915-B665-42AC-B964-8F80D74391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53b28dbbfd4841">
            <a:alphaModFix/>
          </a:blip>
          <a:srcRect xmlns:a="http://schemas.openxmlformats.org/drawingml/2006/main" l="30000" t="28000" r="1500" b="29000"/>
          <a:stretch xmlns:a="http://schemas.openxmlformats.org/drawingml/2006/main"/>
        </p:blipFill>
        <p:spPr>
          <a:xfrm xmlns:a="http://schemas.openxmlformats.org/drawingml/2006/main">
            <a:off x="3814400" y="1012203"/>
            <a:ext cx="4065325" cy="2582350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2"/>
            </a:solidFill>
            <a:prstDash val="solid"/>
            <a:round/>
          </a:ln>
        </p:spPr>
      </p:pic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878AA941-E9EA-4456-9E0C-58B6D522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Browser-only inference. Session-only review notes. No clinical actions.</a:t>
            </a:r>
          </a:p>
        </p:txBody>
      </p:sp>
    </p:spTree>
    <p:extLst>
      <p:ext uri="{BB962C8B-B14F-4D97-AF65-F5344CB8AC3E}">
        <p14:creationId xmlns:p14="http://schemas.microsoft.com/office/powerpoint/2010/main" val="1428142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Google Shape;224;p28">
            <a:extLst xmlns:a="http://schemas.openxmlformats.org/drawingml/2006/main">
              <a:ext uri="{FF2B5EF4-FFF2-40B4-BE49-F238E27FC236}">
                <a16:creationId xmlns:a16="http://schemas.microsoft.com/office/drawing/2014/main" id="{89BFF787-D5AD-4D02-8EC4-3F1FC6F3A5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300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>
                <a:latin typeface="DM Sans"/>
                <a:ea typeface="DM Sans"/>
                <a:cs typeface="DM Sans"/>
              </a:defRPr>
            </a:pPr>
            <a:r>
              <a:rPr sz="3000">
                <a:latin typeface="DM Sans"/>
                <a:ea typeface="DM Sans"/>
                <a:cs typeface="DM Sans"/>
              </a:rPr>
              <a:t>Implemented architecture</a:t>
            </a:r>
            <a:endParaRPr/>
          </a:p>
        </p:txBody>
      </p:sp>
      <p:sp>
        <p:nvSpPr>
          <p:cNvPr id="225" name="Google Shape;225;p28">
            <a:extLst xmlns:a="http://schemas.openxmlformats.org/drawingml/2006/main">
              <a:ext uri="{FF2B5EF4-FFF2-40B4-BE49-F238E27FC236}">
                <a16:creationId xmlns:a16="http://schemas.microsoft.com/office/drawing/2014/main" id="{FEC15D06-3F9B-4AD7-A047-0EF9F74D6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39BFB0FA-5DC7-50DB-D53A-0B6D0E34987E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06</a:t>
            </a:fld>
            <a:endParaRPr/>
          </a:p>
        </p:txBody>
      </p:sp>
      <p:sp>
        <p:nvSpPr>
          <p:cNvPr id="227" name="Google Shape;227;p28">
            <a:extLst xmlns:a="http://schemas.openxmlformats.org/drawingml/2006/main">
              <a:ext uri="{FF2B5EF4-FFF2-40B4-BE49-F238E27FC236}">
                <a16:creationId xmlns:a16="http://schemas.microsoft.com/office/drawing/2014/main" id="{DB0B7199-5867-42E7-901F-CC1B3371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 flipH="0" flipV="0">
            <a:off x="1688175" y="952749"/>
            <a:ext cx="695304" cy="376325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539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</a:endParaRPr>
          </a:p>
        </p:txBody>
      </p:sp>
      <p:sp>
        <p:nvSpPr>
          <p:cNvPr id="228" name="Google Shape;228;p28">
            <a:extLst xmlns:a="http://schemas.openxmlformats.org/drawingml/2006/main">
              <a:ext uri="{FF2B5EF4-FFF2-40B4-BE49-F238E27FC236}">
                <a16:creationId xmlns:a16="http://schemas.microsoft.com/office/drawing/2014/main" id="{0B1A9A1D-E9D6-45BF-B977-6B02E3BD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8110" y="3668459"/>
            <a:ext cx="463061" cy="463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228600" dist="50800" dir="5400000" algn="tl" rotWithShape="0">
              <a:srgbClr val="000000">
                <a:alpha val="54900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0B5394"/>
                </a:solidFill>
                <a:latin typeface="DM Sans"/>
                <a:ea typeface="DM Sans"/>
                <a:cs typeface="DM Sans"/>
              </a:rPr>
              <a:t>1</a:t>
            </a:r>
            <a:endParaRPr sz="1200" b="1">
              <a:solidFill>
                <a:srgbClr val="0B5394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29" name="Google Shape;229;p28">
            <a:extLst xmlns:a="http://schemas.openxmlformats.org/drawingml/2006/main">
              <a:ext uri="{FF2B5EF4-FFF2-40B4-BE49-F238E27FC236}">
                <a16:creationId xmlns:a16="http://schemas.microsoft.com/office/drawing/2014/main" id="{AD361874-913F-4CC8-820E-136D433B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 flipH="0" flipV="0">
            <a:off x="716532" y="2475171"/>
            <a:ext cx="2887297" cy="486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defPPr>
              <a:defRPr sz="14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425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Synthetic input</a:t>
            </a:r>
            <a:endParaRPr sz="800" b="1">
              <a:solidFill>
                <a:srgbClr val="FFFFFF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30" name="Google Shape;230;p28">
            <a:extLst xmlns:a="http://schemas.openxmlformats.org/drawingml/2006/main">
              <a:ext uri="{FF2B5EF4-FFF2-40B4-BE49-F238E27FC236}">
                <a16:creationId xmlns:a16="http://schemas.microsoft.com/office/drawing/2014/main" id="{7B4431C0-D814-4B1A-9DF9-0D65B0D7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 flipH="0" flipV="0">
            <a:off x="1283829" y="2858077"/>
            <a:ext cx="2727650" cy="628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600"/>
              </a:spcAft>
              <a:buNone/>
              <a:defRPr sz="105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05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Profile + replay. Quality checks. Past-only features.</a:t>
            </a:r>
            <a:endParaRPr sz="800" b="1">
              <a:solidFill>
                <a:schemeClr val="dk1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32" name="Google Shape;232;p28">
            <a:extLst xmlns:a="http://schemas.openxmlformats.org/drawingml/2006/main">
              <a:ext uri="{FF2B5EF4-FFF2-40B4-BE49-F238E27FC236}">
                <a16:creationId xmlns:a16="http://schemas.microsoft.com/office/drawing/2014/main" id="{F0A4209C-364D-4FBB-816A-9BEBFEB0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 flipH="0" flipV="0">
            <a:off x="4052647" y="952749"/>
            <a:ext cx="695304" cy="376325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</a:endParaRPr>
          </a:p>
        </p:txBody>
      </p:sp>
      <p:sp>
        <p:nvSpPr>
          <p:cNvPr id="233" name="Google Shape;233;p28">
            <a:extLst xmlns:a="http://schemas.openxmlformats.org/drawingml/2006/main">
              <a:ext uri="{FF2B5EF4-FFF2-40B4-BE49-F238E27FC236}">
                <a16:creationId xmlns:a16="http://schemas.microsoft.com/office/drawing/2014/main" id="{DC4855CC-A08B-4472-823A-5C562844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92583" y="3668459"/>
            <a:ext cx="463061" cy="463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228600" dist="50800" dir="5400000" algn="tl" rotWithShape="0">
              <a:srgbClr val="000000">
                <a:alpha val="54900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chemeClr val="accent2"/>
                </a:solidFill>
                <a:latin typeface="DM Sans"/>
                <a:ea typeface="DM Sans"/>
                <a:cs typeface="DM Sans"/>
              </a:rPr>
              <a:t>2</a:t>
            </a:r>
            <a:endParaRPr sz="1200" b="1">
              <a:solidFill>
                <a:schemeClr val="accent2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34" name="Google Shape;234;p28">
            <a:extLst xmlns:a="http://schemas.openxmlformats.org/drawingml/2006/main">
              <a:ext uri="{FF2B5EF4-FFF2-40B4-BE49-F238E27FC236}">
                <a16:creationId xmlns:a16="http://schemas.microsoft.com/office/drawing/2014/main" id="{CC6A6FB4-CC09-4193-A328-4C9F2A77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 flipH="0" flipV="0">
            <a:off x="3079850" y="2474614"/>
            <a:ext cx="2888873" cy="486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defPPr>
              <a:defRPr sz="14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425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Browser inference</a:t>
            </a:r>
            <a:endParaRPr sz="800" b="1">
              <a:solidFill>
                <a:srgbClr val="FFFFFF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35" name="Google Shape;235;p28">
            <a:extLst xmlns:a="http://schemas.openxmlformats.org/drawingml/2006/main">
              <a:ext uri="{FF2B5EF4-FFF2-40B4-BE49-F238E27FC236}">
                <a16:creationId xmlns:a16="http://schemas.microsoft.com/office/drawing/2014/main" id="{18140DC8-E3D7-411E-8924-95162E71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 flipH="0" flipV="0">
            <a:off x="3648302" y="2858077"/>
            <a:ext cx="2727650" cy="628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600"/>
              </a:spcAft>
              <a:buNone/>
              <a:defRPr sz="105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05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JSON logistic estimate + separate persistence baseline.</a:t>
            </a:r>
            <a:endParaRPr sz="800" b="1">
              <a:solidFill>
                <a:schemeClr val="dk1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37" name="Google Shape;237;p28">
            <a:extLst xmlns:a="http://schemas.openxmlformats.org/drawingml/2006/main">
              <a:ext uri="{FF2B5EF4-FFF2-40B4-BE49-F238E27FC236}">
                <a16:creationId xmlns:a16="http://schemas.microsoft.com/office/drawing/2014/main" id="{EE9F3B22-5865-44EE-AC11-71B7990F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 flipH="0" flipV="0">
            <a:off x="6429245" y="952749"/>
            <a:ext cx="695304" cy="376325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</a:endParaRPr>
          </a:p>
        </p:txBody>
      </p:sp>
      <p:sp>
        <p:nvSpPr>
          <p:cNvPr id="238" name="Google Shape;238;p28">
            <a:extLst xmlns:a="http://schemas.openxmlformats.org/drawingml/2006/main">
              <a:ext uri="{FF2B5EF4-FFF2-40B4-BE49-F238E27FC236}">
                <a16:creationId xmlns:a16="http://schemas.microsoft.com/office/drawing/2014/main" id="{3E6E315D-B4AB-45DB-9DA1-AC01DCF3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469180" y="3668459"/>
            <a:ext cx="463061" cy="463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228600" dist="50800" dir="5400000" algn="tl" rotWithShape="0">
              <a:srgbClr val="000000">
                <a:alpha val="54900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chemeClr val="accent1"/>
                </a:solidFill>
                <a:latin typeface="DM Sans"/>
                <a:ea typeface="DM Sans"/>
                <a:cs typeface="DM Sans"/>
              </a:rPr>
              <a:t>3</a:t>
            </a:r>
            <a:endParaRPr sz="1200" b="1">
              <a:solidFill>
                <a:schemeClr val="accent1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39" name="Google Shape;239;p28">
            <a:extLst xmlns:a="http://schemas.openxmlformats.org/drawingml/2006/main">
              <a:ext uri="{FF2B5EF4-FFF2-40B4-BE49-F238E27FC236}">
                <a16:creationId xmlns:a16="http://schemas.microsoft.com/office/drawing/2014/main" id="{60EECD37-6822-4BD1-9BBB-DAA1F697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 flipH="0" flipV="0">
            <a:off x="5448109" y="2471272"/>
            <a:ext cx="2898324" cy="486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defPPr>
              <a:defRPr sz="14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425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Review and evidence</a:t>
            </a:r>
            <a:endParaRPr sz="800" b="1">
              <a:solidFill>
                <a:srgbClr val="FFFFFF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40" name="Google Shape;240;p28">
            <a:extLst xmlns:a="http://schemas.openxmlformats.org/drawingml/2006/main">
              <a:ext uri="{FF2B5EF4-FFF2-40B4-BE49-F238E27FC236}">
                <a16:creationId xmlns:a16="http://schemas.microsoft.com/office/drawing/2014/main" id="{E5BD2566-E670-4B44-B3DB-5D3E9ACF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 flipH="0" flipV="0">
            <a:off x="6024899" y="2858077"/>
            <a:ext cx="2727650" cy="628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600"/>
              </a:spcAft>
              <a:buNone/>
              <a:defRPr sz="105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05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Inspect provenance. Reveal outcomes as replay advances.</a:t>
            </a:r>
            <a:endParaRPr sz="800" b="1">
              <a:solidFill>
                <a:schemeClr val="dk1"/>
              </a:solidFill>
              <a:latin typeface="DM Sans"/>
              <a:ea typeface="DM Sans"/>
              <a:cs typeface="DM Sans"/>
            </a:endParaRP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EF175446-71B9-4881-90F9-7F661BC1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7572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456375"/>
                </a:solidFill>
                <a:latin typeface="DM Sans"/>
                <a:ea typeface="DM Sans"/>
                <a:cs typeface="DM Sans"/>
              </a:rPr>
              <a:t>Offline Python training exports synthetic JSON. A separate local pipeline produces real aggregate evidence.</a:t>
            </a:r>
          </a:p>
        </p:txBody>
      </p:sp>
    </p:spTree>
    <p:extLst>
      <p:ext uri="{BB962C8B-B14F-4D97-AF65-F5344CB8AC3E}">
        <p14:creationId xmlns:p14="http://schemas.microsoft.com/office/powerpoint/2010/main" val="7098713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889E565F-D455-441D-A9C7-96ECF4B376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32547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87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 b="1">
                <a:latin typeface="DM Sans"/>
                <a:ea typeface="DM Sans"/>
                <a:cs typeface="DM Sans"/>
              </a:rPr>
              <a:t>Event estimate</a:t>
            </a:r>
            <a:endParaRPr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Logistic regression uses last-hour glucose statistics plus synthetic age, diabetes duration and pre-existing HbA1c.</a:t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A synthetic estimate, not clinical risk.</a:t>
            </a:r>
            <a:endParaRPr/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1C7C11B3-95E4-4072-B51B-C7FD754D19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28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850">
                <a:latin typeface="DM Sans"/>
                <a:ea typeface="DM Sans"/>
                <a:cs typeface="DM Sans"/>
              </a:defRPr>
            </a:pPr>
            <a:r>
              <a:rPr sz="2850">
                <a:latin typeface="DM Sans"/>
                <a:ea typeface="DM Sans"/>
                <a:cs typeface="DM Sans"/>
              </a:rPr>
              <a:t>The outputs have different jobs</a:t>
            </a:r>
            <a:endParaRPr/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1AF4AD0C-4B17-4A7B-8793-C2023BD48B7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753180" y="1200150"/>
            <a:ext cx="32547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875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 b="1">
                <a:latin typeface="DM Sans"/>
                <a:ea typeface="DM Sans"/>
                <a:cs typeface="DM Sans"/>
              </a:rPr>
              <a:t>Glucose chart</a:t>
            </a:r>
            <a:endParaRPr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Persistence holds current glucose constant. Bands use validation absolute residuals.</a:t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875">
                <a:latin typeface="DM Sans"/>
                <a:ea typeface="DM Sans"/>
                <a:cs typeface="DM Sans"/>
              </a:defRPr>
            </a:pPr>
            <a:r>
              <a:rPr sz="1875">
                <a:latin typeface="DM Sans"/>
                <a:ea typeface="DM Sans"/>
                <a:cs typeface="DM Sans"/>
              </a:rPr>
              <a:t>Separate models can disagree. Bands do not guarantee individual clinical coverage.</a:t>
            </a:r>
            <a:endParaRPr/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1F4A52E1-E950-4AF3-BCAC-BC9435BC05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C1C5B3A8-B30B-D205-8921-516C108AB9AB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75193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7" name="Google Shape;277;p30">
            <a:extLst xmlns:a="http://schemas.openxmlformats.org/drawingml/2006/main">
              <a:ext uri="{FF2B5EF4-FFF2-40B4-BE49-F238E27FC236}">
                <a16:creationId xmlns:a16="http://schemas.microsoft.com/office/drawing/2014/main" id="{B6138829-C47E-47DF-BC35-BDDD198FB1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66700" y="4333875"/>
            <a:ext cx="81343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150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  <a:defRPr sz="1500">
                <a:latin typeface="DM Sans"/>
                <a:ea typeface="DM Sans"/>
                <a:cs typeface="DM Sans"/>
              </a:defRPr>
            </a:pPr>
            <a:r>
              <a:rPr sz="1500">
                <a:latin typeface="DM Sans"/>
                <a:ea typeface="DM Sans"/>
                <a:cs typeface="DM Sans"/>
              </a:rPr>
              <a:t>48 test people / 30,248 windows. Toy-generator results only.</a:t>
            </a:r>
            <a:endParaRPr/>
          </a:p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  <a:defRPr sz="1500">
                <a:latin typeface="DM Sans"/>
                <a:ea typeface="DM Sans"/>
                <a:cs typeface="DM Sans"/>
              </a:defRPr>
            </a:pPr>
            <a:r>
              <a:rPr sz="1500">
                <a:latin typeface="DM Sans"/>
                <a:ea typeface="DM Sans"/>
                <a:cs typeface="DM Sans"/>
              </a:rPr>
              <a:t>293/334 episodes warned. Median lead 30 min. Window precision 27.2%.</a:t>
            </a:r>
            <a:endParaRPr/>
          </a:p>
        </p:txBody>
      </p:sp>
      <p:sp>
        <p:nvSpPr>
          <p:cNvPr id="278" name="Google Shape;278;p30">
            <a:extLst xmlns:a="http://schemas.openxmlformats.org/drawingml/2006/main">
              <a:ext uri="{FF2B5EF4-FFF2-40B4-BE49-F238E27FC236}">
                <a16:creationId xmlns:a16="http://schemas.microsoft.com/office/drawing/2014/main" id="{E79F1273-43F1-4380-9749-DADFAE2414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22E54B70-3376-18BE-56BD-5BB8BA701776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08</a:t>
            </a:fld>
            <a:endParaRPr/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4C045C81-7C0F-427A-B649-2CC687D2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6700"/>
            <a:ext cx="847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r>
              <a:rPr sz="2850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Synthetic held-out results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1795A4E0-4887-412F-A994-C9D0F3AC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914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456375"/>
                </a:solidFill>
                <a:latin typeface="DM Sans"/>
                <a:ea typeface="DM Sans"/>
                <a:cs typeface="DM Sans"/>
              </a:rPr>
              <a:t>PR-AUC (average precision)</a:t>
            </a:r>
          </a:p>
        </p:txBody>
      </p:sp>
      <p:graphicFrame>
        <p:nvGraphicFramePr>
          <p:cNvPr id="281" name="Chart">
            <a:extLst xmlns:a="http://schemas.openxmlformats.org/drawingml/2006/main">
              <a:ext uri="{FF2B5EF4-FFF2-40B4-BE49-F238E27FC236}">
                <a16:creationId xmlns:a16="http://schemas.microsoft.com/office/drawing/2014/main" id="{07CE94CC-B4D8-427D-AAED-5CCE6EC0D60E}"/>
              </a:ext>
            </a:extLst>
          </p:cNvPr>
          <p:cNvGraphicFramePr/>
          <p:nvPr/>
        </p:nvGraphicFramePr>
        <p:xfrm>
          <a:off xmlns:a="http://schemas.openxmlformats.org/drawingml/2006/main" x="476250" y="1304925"/>
          <a:ext xmlns:a="http://schemas.openxmlformats.org/drawingml/2006/main" cx="5000625" cy="266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5fc5d06b494232"/>
          </a:graphicData>
        </a:graphic>
      </p:graphicFrame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70AA8AA5-DF99-40A6-97BB-BEF51457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362075"/>
            <a:ext cx="28384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2.81</a:t>
            </a:r>
          </a:p>
          <a:p xmlns:a="http://schemas.openxmlformats.org/drawingml/2006/main">
            <a:pPr>
              <a:defRPr sz="2400" b="1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false alerts / patient-day</a:t>
            </a:r>
          </a:p>
        </p:txBody>
      </p:sp>
    </p:spTree>
    <p:extLst>
      <p:ext uri="{BB962C8B-B14F-4D97-AF65-F5344CB8AC3E}">
        <p14:creationId xmlns:p14="http://schemas.microsoft.com/office/powerpoint/2010/main" val="300296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7" name="Google Shape;277;p30">
            <a:extLst xmlns:a="http://schemas.openxmlformats.org/drawingml/2006/main">
              <a:ext uri="{FF2B5EF4-FFF2-40B4-BE49-F238E27FC236}">
                <a16:creationId xmlns:a16="http://schemas.microsoft.com/office/drawing/2014/main" id="{B6138829-C47E-47DF-BC35-BDDD198FB1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66700" y="4333875"/>
            <a:ext cx="81343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150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  <a:defRPr sz="1500">
                <a:latin typeface="DM Sans"/>
                <a:ea typeface="DM Sans"/>
                <a:cs typeface="DM Sans"/>
              </a:defRPr>
            </a:pPr>
            <a:r>
              <a:rPr sz="1500">
                <a:latin typeface="DM Sans"/>
                <a:ea typeface="DM Sans"/>
                <a:cs typeface="DM Sans"/>
              </a:rPr>
              <a:t>20 test people / 20,687 windows. A small retrospective feasibility study.</a:t>
            </a:r>
            <a:endParaRPr/>
          </a:p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  <a:defRPr sz="1500">
                <a:latin typeface="DM Sans"/>
                <a:ea typeface="DM Sans"/>
                <a:cs typeface="DM Sans"/>
              </a:defRPr>
            </a:pPr>
            <a:r>
              <a:rPr sz="1500">
                <a:latin typeface="DM Sans"/>
                <a:ea typeface="DM Sans"/>
                <a:cs typeface="DM Sans"/>
              </a:rPr>
              <a:t>No meaningful fusion benefit or fitness for care established.</a:t>
            </a:r>
            <a:endParaRPr/>
          </a:p>
        </p:txBody>
      </p:sp>
      <p:sp>
        <p:nvSpPr>
          <p:cNvPr id="278" name="Google Shape;278;p30">
            <a:extLst xmlns:a="http://schemas.openxmlformats.org/drawingml/2006/main">
              <a:ext uri="{FF2B5EF4-FFF2-40B4-BE49-F238E27FC236}">
                <a16:creationId xmlns:a16="http://schemas.microsoft.com/office/drawing/2014/main" id="{E79F1273-43F1-4380-9749-DADFAE2414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44235D47-801C-AA1F-E2A0-5E98061CBF6D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09</a:t>
            </a:fld>
            <a:endParaRPr/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CCE8890B-1BFE-42DC-B481-2930ECC7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6700"/>
            <a:ext cx="847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r>
              <a:rPr sz="2850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Real fusion gain is uncertain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6D6C7B2D-341A-4B24-A734-5EE20C9D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914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456375"/>
                </a:solidFill>
                <a:latin typeface="DM Sans"/>
                <a:ea typeface="DM Sans"/>
                <a:cs typeface="DM Sans"/>
              </a:rPr>
              <a:t>PR-AUC (average precision)</a:t>
            </a:r>
          </a:p>
        </p:txBody>
      </p:sp>
      <p:graphicFrame>
        <p:nvGraphicFramePr>
          <p:cNvPr id="281" name="Chart">
            <a:extLst xmlns:a="http://schemas.openxmlformats.org/drawingml/2006/main">
              <a:ext uri="{FF2B5EF4-FFF2-40B4-BE49-F238E27FC236}">
                <a16:creationId xmlns:a16="http://schemas.microsoft.com/office/drawing/2014/main" id="{2E66F23E-6EB2-45C2-A364-AB6A2CDBF3BD}"/>
              </a:ext>
            </a:extLst>
          </p:cNvPr>
          <p:cNvGraphicFramePr/>
          <p:nvPr/>
        </p:nvGraphicFramePr>
        <p:xfrm>
          <a:off xmlns:a="http://schemas.openxmlformats.org/drawingml/2006/main" x="476250" y="1304925"/>
          <a:ext xmlns:a="http://schemas.openxmlformats.org/drawingml/2006/main" cx="5000625" cy="266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fb2894cb324b99"/>
          </a:graphicData>
        </a:graphic>
      </p:graphicFrame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787FA67A-9466-430B-93F9-B55004EB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362075"/>
            <a:ext cx="28384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725" b="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+0.0024</a:t>
            </a:r>
          </a:p>
          <a:p xmlns:a="http://schemas.openxmlformats.org/drawingml/2006/main">
            <a:pPr>
              <a:defRPr sz="1725" b="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725" b="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PR-AUC difference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725" b="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Paired 95% interval</a:t>
            </a:r>
          </a:p>
          <a:p xmlns:a="http://schemas.openxmlformats.org/drawingml/2006/main">
            <a:pPr>
              <a:defRPr sz="1725" b="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725" b="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-0.00248 to +0.00758</a:t>
            </a:r>
          </a:p>
          <a:p xmlns:a="http://schemas.openxmlformats.org/drawingml/2006/main">
            <a:pPr>
              <a:defRPr sz="1725" b="0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725" b="0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Includes zero</a:t>
            </a:r>
          </a:p>
        </p:txBody>
      </p:sp>
    </p:spTree>
    <p:extLst>
      <p:ext uri="{BB962C8B-B14F-4D97-AF65-F5344CB8AC3E}">
        <p14:creationId xmlns:p14="http://schemas.microsoft.com/office/powerpoint/2010/main" val="300296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6" name="Google Shape;206;p26">
            <a:extLst xmlns:a="http://schemas.openxmlformats.org/drawingml/2006/main">
              <a:ext uri="{FF2B5EF4-FFF2-40B4-BE49-F238E27FC236}">
                <a16:creationId xmlns:a16="http://schemas.microsoft.com/office/drawing/2014/main" id="{F8BAB82A-0DB9-42BA-8AA1-9434C46E3416}"/>
              </a:ext>
            </a:extLst>
          </p:cNvPr>
          <p:cNvSpPr>
            <a:spLocks xmlns:a="http://schemas.openxmlformats.org/drawingml/2006/main" noGrp="1"/>
          </p:cNvSpPr>
          <p:nvPr>
            <p:ph type="ctrTitle" idx="4294967295"/>
          </p:nvPr>
        </p:nvSpPr>
        <p:spPr>
          <a:xfrm xmlns:a="http://schemas.openxmlformats.org/drawingml/2006/main">
            <a:off x="685800" y="1583342"/>
            <a:ext cx="7772400" cy="115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94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9450">
                <a:latin typeface="DM Sans"/>
                <a:ea typeface="DM Sans"/>
                <a:cs typeface="DM Sans"/>
              </a:defRPr>
            </a:pPr>
            <a:r>
              <a:rPr sz="9450">
                <a:solidFill>
                  <a:schemeClr val="lt1"/>
                </a:solidFill>
                <a:latin typeface="DM Sans"/>
                <a:ea typeface="DM Sans"/>
                <a:cs typeface="DM Sans"/>
              </a:rPr>
              <a:t>2.97</a:t>
            </a:r>
            <a:endParaRPr sz="9600">
              <a:solidFill>
                <a:schemeClr val="lt1"/>
              </a:solidFill>
            </a:endParaRPr>
          </a:p>
        </p:txBody>
      </p:sp>
      <p:sp>
        <p:nvSpPr>
          <p:cNvPr id="207" name="Google Shape;207;p26">
            <a:extLst xmlns:a="http://schemas.openxmlformats.org/drawingml/2006/main">
              <a:ext uri="{FF2B5EF4-FFF2-40B4-BE49-F238E27FC236}">
                <a16:creationId xmlns:a16="http://schemas.microsoft.com/office/drawing/2014/main" id="{41E35D15-9C45-4848-AFB8-7ACC72F3C5FC}"/>
              </a:ext>
            </a:extLst>
          </p:cNvPr>
          <p:cNvSpPr>
            <a:spLocks xmlns:a="http://schemas.openxmlformats.org/drawingml/2006/main" noGrp="1"/>
          </p:cNvSpPr>
          <p:nvPr>
            <p:ph type="subTitle" idx="4294967295"/>
          </p:nvPr>
        </p:nvSpPr>
        <p:spPr>
          <a:xfrm xmlns:a="http://schemas.openxmlformats.org/drawingml/2006/main">
            <a:off x="685800" y="2840053"/>
            <a:ext cx="7772400" cy="78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 algn="ctr">
              <a:defRPr sz="240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40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false alerts per recorded patient-day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08" name="Google Shape;208;p26">
            <a:extLst xmlns:a="http://schemas.openxmlformats.org/drawingml/2006/main">
              <a:ext uri="{FF2B5EF4-FFF2-40B4-BE49-F238E27FC236}">
                <a16:creationId xmlns:a16="http://schemas.microsoft.com/office/drawing/2014/main" id="{2B1545B4-F3F7-41A3-BF10-8A18B1B703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337038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DB7BEEEC-A170-5376-2B6E-CB54687B0CB1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10</a:t>
            </a:fld>
            <a:endParaRPr/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E713E223-3CEA-40F7-90A7-DD62DD26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62000"/>
            <a:ext cx="79343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025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Real benchmark at the validation-selected 0.20 threshold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E5DE3FC4-3E10-45DF-8F7C-186677FF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79343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302/326 episodes warned / Median lead: 45 minutes</a:t>
            </a:r>
          </a:p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754 false alerts over ~254 days / Window precision: 28.9%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ABBC1C59-DC6E-4DE6-A9C8-8C087716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467225"/>
            <a:ext cx="82772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1125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Recorded-span days include gaps and current-high periods. Alerts use a 120-minute cooldown.</a:t>
            </a:r>
          </a:p>
        </p:txBody>
      </p:sp>
    </p:spTree>
    <p:extLst>
      <p:ext uri="{BB962C8B-B14F-4D97-AF65-F5344CB8AC3E}">
        <p14:creationId xmlns:p14="http://schemas.microsoft.com/office/powerpoint/2010/main" val="4683824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Google Shape;245;p29">
            <a:extLst xmlns:a="http://schemas.openxmlformats.org/drawingml/2006/main">
              <a:ext uri="{FF2B5EF4-FFF2-40B4-BE49-F238E27FC236}">
                <a16:creationId xmlns:a16="http://schemas.microsoft.com/office/drawing/2014/main" id="{A9117033-E784-4306-AE1F-27A8EF3811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28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850">
                <a:latin typeface="DM Sans"/>
                <a:ea typeface="DM Sans"/>
                <a:cs typeface="DM Sans"/>
              </a:defRPr>
            </a:pPr>
            <a:r>
              <a:rPr sz="2850">
                <a:latin typeface="DM Sans"/>
                <a:ea typeface="DM Sans"/>
                <a:cs typeface="DM Sans"/>
              </a:rPr>
              <a:t>Failure cases and next validation</a:t>
            </a:r>
            <a:endParaRPr/>
          </a:p>
        </p:txBody>
      </p:sp>
      <p:sp>
        <p:nvSpPr>
          <p:cNvPr id="246" name="Google Shape;246;p29">
            <a:extLst xmlns:a="http://schemas.openxmlformats.org/drawingml/2006/main">
              <a:ext uri="{FF2B5EF4-FFF2-40B4-BE49-F238E27FC236}">
                <a16:creationId xmlns:a16="http://schemas.microsoft.com/office/drawing/2014/main" id="{4402F935-5879-464A-9EAC-466E751136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638300"/>
            <a:ext cx="2134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Selected illustrations</a:t>
            </a:r>
            <a:endParaRPr sz="1200"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False positive and genuinely missed synthetic episode.</a:t>
            </a:r>
            <a:endParaRPr sz="1200"/>
          </a:p>
        </p:txBody>
      </p:sp>
      <p:sp>
        <p:nvSpPr>
          <p:cNvPr id="247" name="Google Shape;247;p29">
            <a:extLst xmlns:a="http://schemas.openxmlformats.org/drawingml/2006/main">
              <a:ext uri="{FF2B5EF4-FFF2-40B4-BE49-F238E27FC236}">
                <a16:creationId xmlns:a16="http://schemas.microsoft.com/office/drawing/2014/main" id="{3ED92740-EC88-4C15-AAEB-51A182F9027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472500" y="1638300"/>
            <a:ext cx="2134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Data quality</a:t>
            </a:r>
            <a:endParaRPr sz="1200"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Stale, invalid, disconnected and cold-start states withhold forecasts.</a:t>
            </a:r>
            <a:endParaRPr sz="1200"/>
          </a:p>
        </p:txBody>
      </p:sp>
      <p:sp>
        <p:nvSpPr>
          <p:cNvPr id="248" name="Google Shape;248;p29">
            <a:extLst xmlns:a="http://schemas.openxmlformats.org/drawingml/2006/main">
              <a:ext uri="{FF2B5EF4-FFF2-40B4-BE49-F238E27FC236}">
                <a16:creationId xmlns:a16="http://schemas.microsoft.com/office/drawing/2014/main" id="{AE81C413-23C5-43B3-ABE6-CEED8AA0A5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809001" y="1638300"/>
            <a:ext cx="2134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Evidence limits</a:t>
            </a:r>
            <a:endParaRPr sz="1200"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No prospective study or Indian-population validation.</a:t>
            </a:r>
            <a:endParaRPr sz="1200"/>
          </a:p>
        </p:txBody>
      </p:sp>
      <p:sp>
        <p:nvSpPr>
          <p:cNvPr id="249" name="Google Shape;249;p29">
            <a:extLst xmlns:a="http://schemas.openxmlformats.org/drawingml/2006/main">
              <a:ext uri="{FF2B5EF4-FFF2-40B4-BE49-F238E27FC236}">
                <a16:creationId xmlns:a16="http://schemas.microsoft.com/office/drawing/2014/main" id="{C8D008D5-6318-4CAF-8A2C-6FA0301A61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30394428-F1DC-E5F6-DB0C-7DE31F3D8A23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11</a:t>
            </a:fld>
            <a:endParaRPr/>
          </a:p>
        </p:txBody>
      </p:sp>
      <p:sp>
        <p:nvSpPr>
          <p:cNvPr id="250" name="Google Shape;250;p29">
            <a:extLst xmlns:a="http://schemas.openxmlformats.org/drawingml/2006/main">
              <a:ext uri="{FF2B5EF4-FFF2-40B4-BE49-F238E27FC236}">
                <a16:creationId xmlns:a16="http://schemas.microsoft.com/office/drawing/2014/main" id="{3C75C197-F71B-46CC-B8CD-F19B4C8CC2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3467100"/>
            <a:ext cx="2134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Human review</a:t>
            </a:r>
            <a:endParaRPr sz="1200"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No clinician usability study or treatment workflow.</a:t>
            </a:r>
            <a:endParaRPr sz="1200"/>
          </a:p>
        </p:txBody>
      </p:sp>
      <p:sp>
        <p:nvSpPr>
          <p:cNvPr id="251" name="Google Shape;251;p29">
            <a:extLst xmlns:a="http://schemas.openxmlformats.org/drawingml/2006/main">
              <a:ext uri="{FF2B5EF4-FFF2-40B4-BE49-F238E27FC236}">
                <a16:creationId xmlns:a16="http://schemas.microsoft.com/office/drawing/2014/main" id="{017C07E9-2A6F-4011-A2FA-615BA084DF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472500" y="3467100"/>
            <a:ext cx="2134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Privacy boundary</a:t>
            </a:r>
            <a:endParaRPr sz="1200"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Real participant records stay outside the app and submission.</a:t>
            </a:r>
            <a:endParaRPr sz="1200"/>
          </a:p>
        </p:txBody>
      </p:sp>
      <p:sp>
        <p:nvSpPr>
          <p:cNvPr id="252" name="Google Shape;252;p29">
            <a:extLst xmlns:a="http://schemas.openxmlformats.org/drawingml/2006/main">
              <a:ext uri="{FF2B5EF4-FFF2-40B4-BE49-F238E27FC236}">
                <a16:creationId xmlns:a16="http://schemas.microsoft.com/office/drawing/2014/main" id="{C290AAFA-B912-4E7E-AA21-97D2C9939C3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809001" y="3467100"/>
            <a:ext cx="2134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 b="1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Next research step</a:t>
            </a:r>
            <a:endParaRPr sz="1200" b="1"/>
          </a:p>
          <a:p xmlns:a="http://schemas.openxmlformats.org/drawingml/2006/main">
            <a:pPr marL="0" lvl="0" indent="0" algn="l">
              <a:spcBef>
                <a:spcPts val="600"/>
              </a:spcBef>
              <a:spcAft>
                <a:spcPts val="0"/>
              </a:spcAft>
              <a:buNone/>
              <a:defRPr sz="1275">
                <a:solidFill>
                  <a:srgbClr val="00162A"/>
                </a:solidFill>
                <a:latin typeface="DM Sans"/>
                <a:ea typeface="DM Sans"/>
                <a:cs typeface="DM Sans"/>
              </a:defRPr>
            </a:pPr>
            <a:r>
              <a:rPr sz="1275">
                <a:solidFill>
                  <a:srgbClr val="00162A"/>
                </a:solidFill>
                <a:latin typeface="DM Sans"/>
                <a:ea typeface="DM Sans"/>
                <a:cs typeface="DM Sans"/>
              </a:rPr>
              <a:t>External validation, verified input timing and review of alert burden.</a:t>
            </a:r>
            <a:endParaRPr sz="1200"/>
          </a:p>
        </p:txBody>
      </p:sp>
      <p:sp>
        <p:nvSpPr>
          <p:cNvPr id="253" name="Google Shape;253;p29">
            <a:extLst xmlns:a="http://schemas.openxmlformats.org/drawingml/2006/main">
              <a:ext uri="{FF2B5EF4-FFF2-40B4-BE49-F238E27FC236}">
                <a16:creationId xmlns:a16="http://schemas.microsoft.com/office/drawing/2014/main" id="{DD21B6E6-BFF1-40E9-8606-4620285E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6782" y="1276503"/>
            <a:ext cx="259841" cy="301751"/>
          </a:xfrm>
          <a:custGeom xmlns:a="http://schemas.openxmlformats.org/drawingml/2006/main">
            <a:rect l="l" t="t" r="r" b="b"/>
            <a:pathLst>
              <a:path w="393699" h="457199">
                <a:moveTo>
                  <a:pt x="393700" y="423863"/>
                </a:moveTo>
                <a:cubicBezTo>
                  <a:pt x="393700" y="442274"/>
                  <a:pt x="379012" y="457200"/>
                  <a:pt x="360893" y="457200"/>
                </a:cubicBezTo>
                <a:cubicBezTo>
                  <a:pt x="360893" y="457200"/>
                  <a:pt x="360892" y="457200"/>
                  <a:pt x="360892" y="457200"/>
                </a:cubicBezTo>
                <a:lnTo>
                  <a:pt x="32808" y="457200"/>
                </a:lnTo>
                <a:cubicBezTo>
                  <a:pt x="14689" y="457200"/>
                  <a:pt x="0" y="442274"/>
                  <a:pt x="0" y="423863"/>
                </a:cubicBezTo>
                <a:cubicBezTo>
                  <a:pt x="0" y="405451"/>
                  <a:pt x="14689" y="390525"/>
                  <a:pt x="32808" y="390525"/>
                </a:cubicBezTo>
                <a:lnTo>
                  <a:pt x="273534" y="390525"/>
                </a:lnTo>
                <a:cubicBezTo>
                  <a:pt x="324697" y="333222"/>
                  <a:pt x="322668" y="245222"/>
                  <a:pt x="268921" y="190416"/>
                </a:cubicBezTo>
                <a:lnTo>
                  <a:pt x="302058" y="156744"/>
                </a:lnTo>
                <a:cubicBezTo>
                  <a:pt x="362964" y="218855"/>
                  <a:pt x="374997" y="314887"/>
                  <a:pt x="331351" y="390525"/>
                </a:cubicBezTo>
                <a:lnTo>
                  <a:pt x="360892" y="390525"/>
                </a:lnTo>
                <a:cubicBezTo>
                  <a:pt x="379011" y="390525"/>
                  <a:pt x="393700" y="405450"/>
                  <a:pt x="393700" y="423862"/>
                </a:cubicBezTo>
                <a:cubicBezTo>
                  <a:pt x="393700" y="423862"/>
                  <a:pt x="393700" y="423863"/>
                  <a:pt x="393700" y="423863"/>
                </a:cubicBezTo>
                <a:close/>
                <a:moveTo>
                  <a:pt x="200910" y="237469"/>
                </a:moveTo>
                <a:lnTo>
                  <a:pt x="346673" y="89355"/>
                </a:lnTo>
                <a:cubicBezTo>
                  <a:pt x="352046" y="83896"/>
                  <a:pt x="352046" y="75044"/>
                  <a:pt x="346673" y="69585"/>
                </a:cubicBezTo>
                <a:lnTo>
                  <a:pt x="304297" y="26526"/>
                </a:lnTo>
                <a:cubicBezTo>
                  <a:pt x="298925" y="21067"/>
                  <a:pt x="290214" y="21067"/>
                  <a:pt x="284841" y="26526"/>
                </a:cubicBezTo>
                <a:lnTo>
                  <a:pt x="139078" y="174640"/>
                </a:lnTo>
                <a:cubicBezTo>
                  <a:pt x="133706" y="180100"/>
                  <a:pt x="133706" y="188951"/>
                  <a:pt x="139078" y="194410"/>
                </a:cubicBezTo>
                <a:lnTo>
                  <a:pt x="181454" y="237469"/>
                </a:lnTo>
                <a:cubicBezTo>
                  <a:pt x="186827" y="242928"/>
                  <a:pt x="195538" y="242928"/>
                  <a:pt x="200910" y="237469"/>
                </a:cubicBezTo>
                <a:close/>
                <a:moveTo>
                  <a:pt x="368660" y="44780"/>
                </a:moveTo>
                <a:lnTo>
                  <a:pt x="368660" y="44780"/>
                </a:lnTo>
                <a:cubicBezTo>
                  <a:pt x="374151" y="39200"/>
                  <a:pt x="374151" y="30154"/>
                  <a:pt x="368660" y="24574"/>
                </a:cubicBezTo>
                <a:lnTo>
                  <a:pt x="348594" y="4185"/>
                </a:lnTo>
                <a:cubicBezTo>
                  <a:pt x="343103" y="-1395"/>
                  <a:pt x="334200" y="-1395"/>
                  <a:pt x="328710" y="4185"/>
                </a:cubicBezTo>
                <a:lnTo>
                  <a:pt x="328710" y="4185"/>
                </a:lnTo>
                <a:cubicBezTo>
                  <a:pt x="323218" y="9764"/>
                  <a:pt x="323218" y="18811"/>
                  <a:pt x="328710" y="24390"/>
                </a:cubicBezTo>
                <a:lnTo>
                  <a:pt x="348775" y="44780"/>
                </a:lnTo>
                <a:cubicBezTo>
                  <a:pt x="354266" y="50359"/>
                  <a:pt x="363169" y="50359"/>
                  <a:pt x="368660" y="44780"/>
                </a:cubicBezTo>
                <a:close/>
                <a:moveTo>
                  <a:pt x="156555" y="260306"/>
                </a:moveTo>
                <a:lnTo>
                  <a:pt x="156555" y="260306"/>
                </a:lnTo>
                <a:cubicBezTo>
                  <a:pt x="162046" y="254726"/>
                  <a:pt x="162046" y="245680"/>
                  <a:pt x="156555" y="240100"/>
                </a:cubicBezTo>
                <a:lnTo>
                  <a:pt x="136489" y="219711"/>
                </a:lnTo>
                <a:cubicBezTo>
                  <a:pt x="130998" y="214132"/>
                  <a:pt x="122095" y="214132"/>
                  <a:pt x="116604" y="219711"/>
                </a:cubicBezTo>
                <a:lnTo>
                  <a:pt x="116604" y="219711"/>
                </a:lnTo>
                <a:cubicBezTo>
                  <a:pt x="111113" y="225290"/>
                  <a:pt x="111113" y="234337"/>
                  <a:pt x="116604" y="239917"/>
                </a:cubicBezTo>
                <a:lnTo>
                  <a:pt x="136670" y="260306"/>
                </a:lnTo>
                <a:cubicBezTo>
                  <a:pt x="142161" y="265885"/>
                  <a:pt x="151064" y="265885"/>
                  <a:pt x="156555" y="260306"/>
                </a:cubicBezTo>
                <a:close/>
                <a:moveTo>
                  <a:pt x="196850" y="357188"/>
                </a:moveTo>
                <a:lnTo>
                  <a:pt x="196850" y="357188"/>
                </a:lnTo>
                <a:cubicBezTo>
                  <a:pt x="196850" y="349297"/>
                  <a:pt x="190555" y="342900"/>
                  <a:pt x="182789" y="342900"/>
                </a:cubicBezTo>
                <a:lnTo>
                  <a:pt x="14061" y="342900"/>
                </a:lnTo>
                <a:cubicBezTo>
                  <a:pt x="6295" y="342900"/>
                  <a:pt x="0" y="349297"/>
                  <a:pt x="0" y="357188"/>
                </a:cubicBezTo>
                <a:lnTo>
                  <a:pt x="0" y="357188"/>
                </a:lnTo>
                <a:cubicBezTo>
                  <a:pt x="0" y="365078"/>
                  <a:pt x="6295" y="371475"/>
                  <a:pt x="14061" y="371475"/>
                </a:cubicBezTo>
                <a:lnTo>
                  <a:pt x="182789" y="371475"/>
                </a:lnTo>
                <a:cubicBezTo>
                  <a:pt x="190555" y="371475"/>
                  <a:pt x="196850" y="365078"/>
                  <a:pt x="196850" y="357188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5" name="Google Shape;255;p29">
            <a:extLst xmlns:a="http://schemas.openxmlformats.org/drawingml/2006/main">
              <a:ext uri="{FF2B5EF4-FFF2-40B4-BE49-F238E27FC236}">
                <a16:creationId xmlns:a16="http://schemas.microsoft.com/office/drawing/2014/main" id="{3740EA10-7920-484A-BD35-82989F6C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6647" y="3093136"/>
            <a:ext cx="37650" cy="37650"/>
          </a:xfrm>
          <a:custGeom xmlns:a="http://schemas.openxmlformats.org/drawingml/2006/main"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64"/>
                  <a:pt x="44387" y="0"/>
                  <a:pt x="28575" y="0"/>
                </a:cubicBezTo>
                <a:cubicBezTo>
                  <a:pt x="12764" y="0"/>
                  <a:pt x="0" y="12764"/>
                  <a:pt x="0" y="28575"/>
                </a:cubicBezTo>
                <a:lnTo>
                  <a:pt x="0" y="57150"/>
                </a:lnTo>
                <a:lnTo>
                  <a:pt x="57150" y="57150"/>
                </a:lnTo>
                <a:lnTo>
                  <a:pt x="57150" y="28575"/>
                </a:ln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6" name="Google Shape;256;p29">
            <a:extLst xmlns:a="http://schemas.openxmlformats.org/drawingml/2006/main">
              <a:ext uri="{FF2B5EF4-FFF2-40B4-BE49-F238E27FC236}">
                <a16:creationId xmlns:a16="http://schemas.microsoft.com/office/drawing/2014/main" id="{58D01A5F-0A5F-488E-94AE-52E50860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2521" y="3137061"/>
            <a:ext cx="213352" cy="257277"/>
          </a:xfrm>
          <a:custGeom xmlns:a="http://schemas.openxmlformats.org/drawingml/2006/main">
            <a:rect l="l" t="t" r="r" b="b"/>
            <a:pathLst>
              <a:path w="323850" h="390525">
                <a:moveTo>
                  <a:pt x="142875" y="180975"/>
                </a:moveTo>
                <a:lnTo>
                  <a:pt x="200025" y="180975"/>
                </a:lnTo>
                <a:lnTo>
                  <a:pt x="200025" y="161925"/>
                </a:lnTo>
                <a:lnTo>
                  <a:pt x="247650" y="161925"/>
                </a:lnTo>
                <a:cubicBezTo>
                  <a:pt x="289655" y="161925"/>
                  <a:pt x="323850" y="127730"/>
                  <a:pt x="323850" y="85725"/>
                </a:cubicBezTo>
                <a:cubicBezTo>
                  <a:pt x="323850" y="43720"/>
                  <a:pt x="289655" y="9525"/>
                  <a:pt x="247650" y="9525"/>
                </a:cubicBezTo>
                <a:lnTo>
                  <a:pt x="110871" y="9525"/>
                </a:lnTo>
                <a:cubicBezTo>
                  <a:pt x="104108" y="3620"/>
                  <a:pt x="95345" y="0"/>
                  <a:pt x="85725" y="0"/>
                </a:cubicBezTo>
                <a:lnTo>
                  <a:pt x="38100" y="0"/>
                </a:lnTo>
                <a:cubicBezTo>
                  <a:pt x="27623" y="0"/>
                  <a:pt x="18098" y="4286"/>
                  <a:pt x="11144" y="11144"/>
                </a:cubicBezTo>
                <a:cubicBezTo>
                  <a:pt x="4286" y="18097"/>
                  <a:pt x="0" y="27622"/>
                  <a:pt x="0" y="38100"/>
                </a:cubicBezTo>
                <a:cubicBezTo>
                  <a:pt x="0" y="59150"/>
                  <a:pt x="17050" y="76200"/>
                  <a:pt x="38100" y="76200"/>
                </a:cubicBezTo>
                <a:lnTo>
                  <a:pt x="85725" y="76200"/>
                </a:lnTo>
                <a:cubicBezTo>
                  <a:pt x="95345" y="76200"/>
                  <a:pt x="104108" y="72581"/>
                  <a:pt x="110871" y="66675"/>
                </a:cubicBezTo>
                <a:lnTo>
                  <a:pt x="247650" y="66675"/>
                </a:lnTo>
                <a:cubicBezTo>
                  <a:pt x="258128" y="66675"/>
                  <a:pt x="266700" y="75248"/>
                  <a:pt x="266700" y="85725"/>
                </a:cubicBezTo>
                <a:cubicBezTo>
                  <a:pt x="266700" y="96203"/>
                  <a:pt x="258128" y="104775"/>
                  <a:pt x="247650" y="104775"/>
                </a:cubicBezTo>
                <a:lnTo>
                  <a:pt x="200025" y="104775"/>
                </a:lnTo>
                <a:lnTo>
                  <a:pt x="200025" y="85725"/>
                </a:lnTo>
                <a:lnTo>
                  <a:pt x="142875" y="85725"/>
                </a:lnTo>
                <a:lnTo>
                  <a:pt x="142875" y="104775"/>
                </a:lnTo>
                <a:lnTo>
                  <a:pt x="114300" y="104775"/>
                </a:lnTo>
                <a:cubicBezTo>
                  <a:pt x="72295" y="104775"/>
                  <a:pt x="38100" y="138970"/>
                  <a:pt x="38100" y="180975"/>
                </a:cubicBezTo>
                <a:cubicBezTo>
                  <a:pt x="38100" y="222980"/>
                  <a:pt x="72295" y="257175"/>
                  <a:pt x="114300" y="257175"/>
                </a:cubicBezTo>
                <a:lnTo>
                  <a:pt x="209550" y="257175"/>
                </a:lnTo>
                <a:cubicBezTo>
                  <a:pt x="220028" y="257175"/>
                  <a:pt x="228600" y="265748"/>
                  <a:pt x="228600" y="276225"/>
                </a:cubicBezTo>
                <a:cubicBezTo>
                  <a:pt x="228600" y="286703"/>
                  <a:pt x="220028" y="295275"/>
                  <a:pt x="209550" y="295275"/>
                </a:cubicBezTo>
                <a:lnTo>
                  <a:pt x="200025" y="295275"/>
                </a:lnTo>
                <a:lnTo>
                  <a:pt x="200025" y="276225"/>
                </a:lnTo>
                <a:lnTo>
                  <a:pt x="142875" y="276225"/>
                </a:lnTo>
                <a:lnTo>
                  <a:pt x="142875" y="295275"/>
                </a:lnTo>
                <a:lnTo>
                  <a:pt x="123825" y="295275"/>
                </a:lnTo>
                <a:cubicBezTo>
                  <a:pt x="108014" y="295275"/>
                  <a:pt x="95250" y="308039"/>
                  <a:pt x="95250" y="323850"/>
                </a:cubicBezTo>
                <a:cubicBezTo>
                  <a:pt x="95250" y="339662"/>
                  <a:pt x="108014" y="352425"/>
                  <a:pt x="123825" y="352425"/>
                </a:cubicBezTo>
                <a:lnTo>
                  <a:pt x="142875" y="352425"/>
                </a:lnTo>
                <a:lnTo>
                  <a:pt x="142875" y="361950"/>
                </a:lnTo>
                <a:cubicBezTo>
                  <a:pt x="142875" y="365284"/>
                  <a:pt x="143447" y="368522"/>
                  <a:pt x="144590" y="371475"/>
                </a:cubicBezTo>
                <a:cubicBezTo>
                  <a:pt x="145066" y="372904"/>
                  <a:pt x="145637" y="374237"/>
                  <a:pt x="146304" y="375475"/>
                </a:cubicBezTo>
                <a:cubicBezTo>
                  <a:pt x="146590" y="376142"/>
                  <a:pt x="146971" y="376809"/>
                  <a:pt x="147447" y="377381"/>
                </a:cubicBezTo>
                <a:cubicBezTo>
                  <a:pt x="147733" y="377857"/>
                  <a:pt x="148019" y="378333"/>
                  <a:pt x="148400" y="378809"/>
                </a:cubicBezTo>
                <a:cubicBezTo>
                  <a:pt x="151638" y="383286"/>
                  <a:pt x="156115" y="386715"/>
                  <a:pt x="161354" y="388620"/>
                </a:cubicBezTo>
                <a:cubicBezTo>
                  <a:pt x="161830" y="388906"/>
                  <a:pt x="162401" y="389096"/>
                  <a:pt x="162973" y="389192"/>
                </a:cubicBezTo>
                <a:cubicBezTo>
                  <a:pt x="163640" y="389477"/>
                  <a:pt x="164306" y="389668"/>
                  <a:pt x="164973" y="389763"/>
                </a:cubicBezTo>
                <a:cubicBezTo>
                  <a:pt x="165449" y="389954"/>
                  <a:pt x="166021" y="389954"/>
                  <a:pt x="166592" y="390049"/>
                </a:cubicBezTo>
                <a:cubicBezTo>
                  <a:pt x="168212" y="390430"/>
                  <a:pt x="169831" y="390525"/>
                  <a:pt x="171450" y="390525"/>
                </a:cubicBezTo>
                <a:cubicBezTo>
                  <a:pt x="173069" y="390525"/>
                  <a:pt x="174689" y="390430"/>
                  <a:pt x="176308" y="390049"/>
                </a:cubicBezTo>
                <a:cubicBezTo>
                  <a:pt x="176879" y="389954"/>
                  <a:pt x="177451" y="389954"/>
                  <a:pt x="177927" y="389763"/>
                </a:cubicBezTo>
                <a:cubicBezTo>
                  <a:pt x="184690" y="388239"/>
                  <a:pt x="190595" y="384239"/>
                  <a:pt x="194501" y="378809"/>
                </a:cubicBezTo>
                <a:cubicBezTo>
                  <a:pt x="194881" y="378333"/>
                  <a:pt x="195167" y="377857"/>
                  <a:pt x="195453" y="377381"/>
                </a:cubicBezTo>
                <a:cubicBezTo>
                  <a:pt x="195929" y="376809"/>
                  <a:pt x="196310" y="376142"/>
                  <a:pt x="196596" y="375475"/>
                </a:cubicBezTo>
                <a:cubicBezTo>
                  <a:pt x="197263" y="374237"/>
                  <a:pt x="197834" y="372904"/>
                  <a:pt x="198311" y="371475"/>
                </a:cubicBezTo>
                <a:cubicBezTo>
                  <a:pt x="199454" y="368522"/>
                  <a:pt x="200025" y="365284"/>
                  <a:pt x="200025" y="361950"/>
                </a:cubicBezTo>
                <a:lnTo>
                  <a:pt x="200025" y="352425"/>
                </a:lnTo>
                <a:lnTo>
                  <a:pt x="209550" y="352425"/>
                </a:lnTo>
                <a:cubicBezTo>
                  <a:pt x="251555" y="352425"/>
                  <a:pt x="285750" y="318230"/>
                  <a:pt x="285750" y="276225"/>
                </a:cubicBezTo>
                <a:cubicBezTo>
                  <a:pt x="285750" y="234220"/>
                  <a:pt x="251555" y="200025"/>
                  <a:pt x="209550" y="200025"/>
                </a:cubicBezTo>
                <a:lnTo>
                  <a:pt x="114300" y="200025"/>
                </a:lnTo>
                <a:cubicBezTo>
                  <a:pt x="103823" y="200025"/>
                  <a:pt x="95250" y="191453"/>
                  <a:pt x="95250" y="180975"/>
                </a:cubicBezTo>
                <a:cubicBezTo>
                  <a:pt x="95250" y="170498"/>
                  <a:pt x="103823" y="161925"/>
                  <a:pt x="114300" y="161925"/>
                </a:cubicBezTo>
                <a:lnTo>
                  <a:pt x="142875" y="161925"/>
                </a:lnTo>
                <a:lnTo>
                  <a:pt x="142875" y="180975"/>
                </a:lnTo>
                <a:close/>
                <a:moveTo>
                  <a:pt x="38100" y="38100"/>
                </a:moveTo>
                <a:cubicBezTo>
                  <a:pt x="32861" y="38100"/>
                  <a:pt x="28575" y="33814"/>
                  <a:pt x="28575" y="28575"/>
                </a:cubicBezTo>
                <a:cubicBezTo>
                  <a:pt x="28575" y="23336"/>
                  <a:pt x="32861" y="19050"/>
                  <a:pt x="38100" y="19050"/>
                </a:cubicBezTo>
                <a:cubicBezTo>
                  <a:pt x="43339" y="19050"/>
                  <a:pt x="47625" y="23336"/>
                  <a:pt x="47625" y="28575"/>
                </a:cubicBezTo>
                <a:cubicBezTo>
                  <a:pt x="47625" y="33814"/>
                  <a:pt x="43339" y="38100"/>
                  <a:pt x="38100" y="38100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7" name="Google Shape;257;p29">
            <a:extLst xmlns:a="http://schemas.openxmlformats.org/drawingml/2006/main">
              <a:ext uri="{FF2B5EF4-FFF2-40B4-BE49-F238E27FC236}">
                <a16:creationId xmlns:a16="http://schemas.microsoft.com/office/drawing/2014/main" id="{098711E6-220F-4222-BF81-9AF9DBE3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855" y="1276502"/>
            <a:ext cx="301752" cy="301752"/>
          </a:xfrm>
          <a:custGeom xmlns:a="http://schemas.openxmlformats.org/drawingml/2006/main">
            <a:rect l="l" t="t" r="r" b="b"/>
            <a:pathLst>
              <a:path w="457200" h="457200">
                <a:moveTo>
                  <a:pt x="442913" y="180975"/>
                </a:moveTo>
                <a:cubicBezTo>
                  <a:pt x="435023" y="180974"/>
                  <a:pt x="428626" y="187368"/>
                  <a:pt x="428625" y="195258"/>
                </a:cubicBezTo>
                <a:cubicBezTo>
                  <a:pt x="428625" y="195260"/>
                  <a:pt x="428625" y="195261"/>
                  <a:pt x="428625" y="195263"/>
                </a:cubicBezTo>
                <a:lnTo>
                  <a:pt x="428625" y="209550"/>
                </a:lnTo>
                <a:lnTo>
                  <a:pt x="389308" y="209550"/>
                </a:lnTo>
                <a:cubicBezTo>
                  <a:pt x="385830" y="179926"/>
                  <a:pt x="374190" y="151851"/>
                  <a:pt x="355685" y="128457"/>
                </a:cubicBezTo>
                <a:lnTo>
                  <a:pt x="383510" y="100631"/>
                </a:lnTo>
                <a:lnTo>
                  <a:pt x="394709" y="110114"/>
                </a:lnTo>
                <a:cubicBezTo>
                  <a:pt x="400281" y="115700"/>
                  <a:pt x="409327" y="115711"/>
                  <a:pt x="414914" y="110139"/>
                </a:cubicBezTo>
                <a:cubicBezTo>
                  <a:pt x="420500" y="104565"/>
                  <a:pt x="420511" y="95520"/>
                  <a:pt x="414938" y="89934"/>
                </a:cubicBezTo>
                <a:cubicBezTo>
                  <a:pt x="414930" y="89926"/>
                  <a:pt x="414922" y="89918"/>
                  <a:pt x="414915" y="89911"/>
                </a:cubicBezTo>
                <a:lnTo>
                  <a:pt x="367291" y="42286"/>
                </a:lnTo>
                <a:cubicBezTo>
                  <a:pt x="361712" y="36706"/>
                  <a:pt x="352666" y="36706"/>
                  <a:pt x="347086" y="42285"/>
                </a:cubicBezTo>
                <a:cubicBezTo>
                  <a:pt x="341507" y="47864"/>
                  <a:pt x="341506" y="56910"/>
                  <a:pt x="347085" y="62489"/>
                </a:cubicBezTo>
                <a:lnTo>
                  <a:pt x="356569" y="73689"/>
                </a:lnTo>
                <a:lnTo>
                  <a:pt x="328743" y="101515"/>
                </a:lnTo>
                <a:cubicBezTo>
                  <a:pt x="305349" y="83012"/>
                  <a:pt x="277274" y="71372"/>
                  <a:pt x="247650" y="67894"/>
                </a:cubicBezTo>
                <a:lnTo>
                  <a:pt x="247650" y="28575"/>
                </a:lnTo>
                <a:lnTo>
                  <a:pt x="261938" y="28575"/>
                </a:lnTo>
                <a:cubicBezTo>
                  <a:pt x="269828" y="28575"/>
                  <a:pt x="276225" y="22178"/>
                  <a:pt x="276225" y="14288"/>
                </a:cubicBezTo>
                <a:cubicBezTo>
                  <a:pt x="276225" y="6397"/>
                  <a:pt x="269828" y="0"/>
                  <a:pt x="261938" y="0"/>
                </a:cubicBezTo>
                <a:lnTo>
                  <a:pt x="195263" y="0"/>
                </a:lnTo>
                <a:cubicBezTo>
                  <a:pt x="187372" y="0"/>
                  <a:pt x="180975" y="6397"/>
                  <a:pt x="180975" y="14288"/>
                </a:cubicBezTo>
                <a:cubicBezTo>
                  <a:pt x="180975" y="22178"/>
                  <a:pt x="187372" y="28575"/>
                  <a:pt x="195263" y="28575"/>
                </a:cubicBezTo>
                <a:lnTo>
                  <a:pt x="209550" y="28575"/>
                </a:lnTo>
                <a:lnTo>
                  <a:pt x="209550" y="67894"/>
                </a:lnTo>
                <a:cubicBezTo>
                  <a:pt x="179926" y="71372"/>
                  <a:pt x="151851" y="83012"/>
                  <a:pt x="128457" y="101515"/>
                </a:cubicBezTo>
                <a:lnTo>
                  <a:pt x="100631" y="73689"/>
                </a:lnTo>
                <a:lnTo>
                  <a:pt x="110115" y="62489"/>
                </a:lnTo>
                <a:cubicBezTo>
                  <a:pt x="115694" y="56910"/>
                  <a:pt x="115694" y="47864"/>
                  <a:pt x="110114" y="42285"/>
                </a:cubicBezTo>
                <a:cubicBezTo>
                  <a:pt x="104534" y="36706"/>
                  <a:pt x="95488" y="36706"/>
                  <a:pt x="89910" y="42286"/>
                </a:cubicBezTo>
                <a:lnTo>
                  <a:pt x="43382" y="89911"/>
                </a:lnTo>
                <a:cubicBezTo>
                  <a:pt x="37817" y="95504"/>
                  <a:pt x="37839" y="104550"/>
                  <a:pt x="43433" y="110116"/>
                </a:cubicBezTo>
                <a:cubicBezTo>
                  <a:pt x="49007" y="115661"/>
                  <a:pt x="58015" y="115661"/>
                  <a:pt x="63588" y="110115"/>
                </a:cubicBezTo>
                <a:lnTo>
                  <a:pt x="73691" y="100631"/>
                </a:lnTo>
                <a:lnTo>
                  <a:pt x="101516" y="128457"/>
                </a:lnTo>
                <a:cubicBezTo>
                  <a:pt x="83011" y="151851"/>
                  <a:pt x="71370" y="179926"/>
                  <a:pt x="67892" y="209550"/>
                </a:cubicBezTo>
                <a:lnTo>
                  <a:pt x="28575" y="209550"/>
                </a:lnTo>
                <a:lnTo>
                  <a:pt x="28575" y="195263"/>
                </a:lnTo>
                <a:cubicBezTo>
                  <a:pt x="28575" y="187372"/>
                  <a:pt x="22178" y="180975"/>
                  <a:pt x="14288" y="180975"/>
                </a:cubicBezTo>
                <a:cubicBezTo>
                  <a:pt x="6397" y="180975"/>
                  <a:pt x="0" y="187372"/>
                  <a:pt x="0" y="195263"/>
                </a:cubicBezTo>
                <a:lnTo>
                  <a:pt x="0" y="261938"/>
                </a:lnTo>
                <a:cubicBezTo>
                  <a:pt x="0" y="269828"/>
                  <a:pt x="6397" y="276225"/>
                  <a:pt x="14288" y="276225"/>
                </a:cubicBezTo>
                <a:cubicBezTo>
                  <a:pt x="22178" y="276225"/>
                  <a:pt x="28575" y="269828"/>
                  <a:pt x="28575" y="261938"/>
                </a:cubicBezTo>
                <a:lnTo>
                  <a:pt x="28575" y="247650"/>
                </a:lnTo>
                <a:lnTo>
                  <a:pt x="67892" y="247650"/>
                </a:lnTo>
                <a:cubicBezTo>
                  <a:pt x="71370" y="277274"/>
                  <a:pt x="83011" y="305349"/>
                  <a:pt x="101516" y="328743"/>
                </a:cubicBezTo>
                <a:lnTo>
                  <a:pt x="73691" y="356569"/>
                </a:lnTo>
                <a:lnTo>
                  <a:pt x="62491" y="347085"/>
                </a:lnTo>
                <a:cubicBezTo>
                  <a:pt x="56906" y="341512"/>
                  <a:pt x="47860" y="341522"/>
                  <a:pt x="42287" y="347107"/>
                </a:cubicBezTo>
                <a:cubicBezTo>
                  <a:pt x="36722" y="352684"/>
                  <a:pt x="36722" y="361712"/>
                  <a:pt x="42285" y="367290"/>
                </a:cubicBezTo>
                <a:lnTo>
                  <a:pt x="89910" y="414915"/>
                </a:lnTo>
                <a:cubicBezTo>
                  <a:pt x="95488" y="420494"/>
                  <a:pt x="104534" y="420494"/>
                  <a:pt x="110114" y="414915"/>
                </a:cubicBezTo>
                <a:cubicBezTo>
                  <a:pt x="115694" y="409336"/>
                  <a:pt x="115694" y="400290"/>
                  <a:pt x="110115" y="394710"/>
                </a:cubicBezTo>
                <a:lnTo>
                  <a:pt x="100631" y="383512"/>
                </a:lnTo>
                <a:lnTo>
                  <a:pt x="128456" y="355685"/>
                </a:lnTo>
                <a:cubicBezTo>
                  <a:pt x="151851" y="374189"/>
                  <a:pt x="179926" y="385828"/>
                  <a:pt x="209550" y="389307"/>
                </a:cubicBezTo>
                <a:lnTo>
                  <a:pt x="209550" y="428625"/>
                </a:lnTo>
                <a:lnTo>
                  <a:pt x="195263" y="428625"/>
                </a:lnTo>
                <a:cubicBezTo>
                  <a:pt x="187372" y="428625"/>
                  <a:pt x="180975" y="435022"/>
                  <a:pt x="180975" y="442913"/>
                </a:cubicBezTo>
                <a:cubicBezTo>
                  <a:pt x="180975" y="450803"/>
                  <a:pt x="187372" y="457200"/>
                  <a:pt x="195263" y="457200"/>
                </a:cubicBezTo>
                <a:lnTo>
                  <a:pt x="261938" y="457200"/>
                </a:lnTo>
                <a:cubicBezTo>
                  <a:pt x="269828" y="457200"/>
                  <a:pt x="276225" y="450803"/>
                  <a:pt x="276225" y="442913"/>
                </a:cubicBezTo>
                <a:cubicBezTo>
                  <a:pt x="276225" y="435022"/>
                  <a:pt x="269828" y="428625"/>
                  <a:pt x="261938" y="428625"/>
                </a:cubicBezTo>
                <a:lnTo>
                  <a:pt x="247650" y="428625"/>
                </a:lnTo>
                <a:lnTo>
                  <a:pt x="247650" y="389307"/>
                </a:lnTo>
                <a:cubicBezTo>
                  <a:pt x="277274" y="385828"/>
                  <a:pt x="305349" y="374189"/>
                  <a:pt x="328744" y="355685"/>
                </a:cubicBezTo>
                <a:lnTo>
                  <a:pt x="356569" y="383512"/>
                </a:lnTo>
                <a:lnTo>
                  <a:pt x="347085" y="394710"/>
                </a:lnTo>
                <a:cubicBezTo>
                  <a:pt x="341506" y="400290"/>
                  <a:pt x="341506" y="409336"/>
                  <a:pt x="347086" y="414915"/>
                </a:cubicBezTo>
                <a:cubicBezTo>
                  <a:pt x="352666" y="420494"/>
                  <a:pt x="361712" y="420494"/>
                  <a:pt x="367291" y="414915"/>
                </a:cubicBezTo>
                <a:lnTo>
                  <a:pt x="414915" y="367290"/>
                </a:lnTo>
                <a:cubicBezTo>
                  <a:pt x="420500" y="361716"/>
                  <a:pt x="420510" y="352670"/>
                  <a:pt x="414937" y="347084"/>
                </a:cubicBezTo>
                <a:cubicBezTo>
                  <a:pt x="409363" y="341499"/>
                  <a:pt x="400317" y="341489"/>
                  <a:pt x="394731" y="347063"/>
                </a:cubicBezTo>
                <a:cubicBezTo>
                  <a:pt x="394724" y="347071"/>
                  <a:pt x="394716" y="347079"/>
                  <a:pt x="394709" y="347085"/>
                </a:cubicBezTo>
                <a:lnTo>
                  <a:pt x="383509" y="356569"/>
                </a:lnTo>
                <a:lnTo>
                  <a:pt x="355684" y="328743"/>
                </a:lnTo>
                <a:cubicBezTo>
                  <a:pt x="374189" y="305349"/>
                  <a:pt x="385830" y="277274"/>
                  <a:pt x="389308" y="247650"/>
                </a:cubicBezTo>
                <a:lnTo>
                  <a:pt x="428625" y="247650"/>
                </a:lnTo>
                <a:lnTo>
                  <a:pt x="428625" y="261938"/>
                </a:lnTo>
                <a:cubicBezTo>
                  <a:pt x="428625" y="269828"/>
                  <a:pt x="435022" y="276225"/>
                  <a:pt x="442913" y="276225"/>
                </a:cubicBezTo>
                <a:cubicBezTo>
                  <a:pt x="450803" y="276225"/>
                  <a:pt x="457200" y="269828"/>
                  <a:pt x="457200" y="261938"/>
                </a:cubicBezTo>
                <a:lnTo>
                  <a:pt x="457200" y="195263"/>
                </a:lnTo>
                <a:cubicBezTo>
                  <a:pt x="457201" y="187373"/>
                  <a:pt x="450807" y="180976"/>
                  <a:pt x="442917" y="180975"/>
                </a:cubicBezTo>
                <a:cubicBezTo>
                  <a:pt x="442915" y="180975"/>
                  <a:pt x="442914" y="180975"/>
                  <a:pt x="442913" y="180975"/>
                </a:cubicBezTo>
                <a:close/>
                <a:moveTo>
                  <a:pt x="176213" y="190500"/>
                </a:moveTo>
                <a:cubicBezTo>
                  <a:pt x="157801" y="190500"/>
                  <a:pt x="142875" y="175574"/>
                  <a:pt x="142875" y="157163"/>
                </a:cubicBezTo>
                <a:cubicBezTo>
                  <a:pt x="142875" y="138751"/>
                  <a:pt x="157801" y="123825"/>
                  <a:pt x="176213" y="123825"/>
                </a:cubicBezTo>
                <a:cubicBezTo>
                  <a:pt x="194624" y="123825"/>
                  <a:pt x="209550" y="138751"/>
                  <a:pt x="209550" y="157163"/>
                </a:cubicBezTo>
                <a:cubicBezTo>
                  <a:pt x="209550" y="175574"/>
                  <a:pt x="194625" y="190500"/>
                  <a:pt x="176213" y="190500"/>
                </a:cubicBezTo>
                <a:cubicBezTo>
                  <a:pt x="176213" y="190500"/>
                  <a:pt x="176213" y="190500"/>
                  <a:pt x="176213" y="190500"/>
                </a:cubicBezTo>
                <a:close/>
                <a:moveTo>
                  <a:pt x="285750" y="314325"/>
                </a:moveTo>
                <a:cubicBezTo>
                  <a:pt x="275229" y="314325"/>
                  <a:pt x="266700" y="305796"/>
                  <a:pt x="266700" y="295275"/>
                </a:cubicBezTo>
                <a:cubicBezTo>
                  <a:pt x="266700" y="284754"/>
                  <a:pt x="275229" y="276225"/>
                  <a:pt x="285750" y="276225"/>
                </a:cubicBezTo>
                <a:cubicBezTo>
                  <a:pt x="296271" y="276225"/>
                  <a:pt x="304800" y="284754"/>
                  <a:pt x="304800" y="295275"/>
                </a:cubicBezTo>
                <a:cubicBezTo>
                  <a:pt x="304800" y="305796"/>
                  <a:pt x="296271" y="314325"/>
                  <a:pt x="285750" y="314325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9" name="Google Shape;259;p29">
            <a:extLst xmlns:a="http://schemas.openxmlformats.org/drawingml/2006/main">
              <a:ext uri="{FF2B5EF4-FFF2-40B4-BE49-F238E27FC236}">
                <a16:creationId xmlns:a16="http://schemas.microsoft.com/office/drawing/2014/main" id="{5006088C-FD1D-4DB7-A287-C9850008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1682" y="3206087"/>
            <a:ext cx="301203" cy="163151"/>
          </a:xfrm>
          <a:custGeom xmlns:a="http://schemas.openxmlformats.org/drawingml/2006/main">
            <a:rect l="l" t="t" r="r" b="b"/>
            <a:pathLst>
              <a:path w="457200" h="247650">
                <a:moveTo>
                  <a:pt x="413385" y="133350"/>
                </a:moveTo>
                <a:lnTo>
                  <a:pt x="409575" y="133350"/>
                </a:lnTo>
                <a:lnTo>
                  <a:pt x="409575" y="104775"/>
                </a:lnTo>
                <a:cubicBezTo>
                  <a:pt x="409575" y="78105"/>
                  <a:pt x="388620" y="57150"/>
                  <a:pt x="361950" y="57150"/>
                </a:cubicBezTo>
                <a:lnTo>
                  <a:pt x="314325" y="57150"/>
                </a:lnTo>
                <a:lnTo>
                  <a:pt x="314325" y="28575"/>
                </a:lnTo>
                <a:cubicBezTo>
                  <a:pt x="314325" y="12383"/>
                  <a:pt x="301943" y="0"/>
                  <a:pt x="285750" y="0"/>
                </a:cubicBezTo>
                <a:lnTo>
                  <a:pt x="28575" y="0"/>
                </a:lnTo>
                <a:cubicBezTo>
                  <a:pt x="12383" y="0"/>
                  <a:pt x="0" y="13335"/>
                  <a:pt x="0" y="28575"/>
                </a:cubicBezTo>
                <a:lnTo>
                  <a:pt x="0" y="247650"/>
                </a:lnTo>
                <a:lnTo>
                  <a:pt x="47625" y="247650"/>
                </a:lnTo>
                <a:cubicBezTo>
                  <a:pt x="47625" y="216218"/>
                  <a:pt x="73343" y="190500"/>
                  <a:pt x="104775" y="190500"/>
                </a:cubicBezTo>
                <a:cubicBezTo>
                  <a:pt x="136208" y="190500"/>
                  <a:pt x="161925" y="216218"/>
                  <a:pt x="161925" y="247650"/>
                </a:cubicBezTo>
                <a:lnTo>
                  <a:pt x="233363" y="247650"/>
                </a:lnTo>
                <a:lnTo>
                  <a:pt x="276225" y="247650"/>
                </a:lnTo>
                <a:cubicBezTo>
                  <a:pt x="276225" y="222885"/>
                  <a:pt x="292418" y="201930"/>
                  <a:pt x="314325" y="194310"/>
                </a:cubicBezTo>
                <a:cubicBezTo>
                  <a:pt x="320040" y="192405"/>
                  <a:pt x="326708" y="190500"/>
                  <a:pt x="333375" y="190500"/>
                </a:cubicBezTo>
                <a:cubicBezTo>
                  <a:pt x="364808" y="190500"/>
                  <a:pt x="390525" y="216218"/>
                  <a:pt x="390525" y="247650"/>
                </a:cubicBezTo>
                <a:lnTo>
                  <a:pt x="442913" y="247650"/>
                </a:lnTo>
                <a:cubicBezTo>
                  <a:pt x="451485" y="247650"/>
                  <a:pt x="457200" y="240983"/>
                  <a:pt x="457200" y="233363"/>
                </a:cubicBezTo>
                <a:lnTo>
                  <a:pt x="457200" y="177165"/>
                </a:lnTo>
                <a:cubicBezTo>
                  <a:pt x="457200" y="153353"/>
                  <a:pt x="437198" y="133350"/>
                  <a:pt x="413385" y="133350"/>
                </a:cubicBezTo>
                <a:close/>
                <a:moveTo>
                  <a:pt x="353378" y="85725"/>
                </a:moveTo>
                <a:cubicBezTo>
                  <a:pt x="368618" y="85725"/>
                  <a:pt x="381000" y="98108"/>
                  <a:pt x="381000" y="113348"/>
                </a:cubicBezTo>
                <a:lnTo>
                  <a:pt x="381000" y="133350"/>
                </a:lnTo>
                <a:lnTo>
                  <a:pt x="314325" y="133350"/>
                </a:lnTo>
                <a:lnTo>
                  <a:pt x="314325" y="85725"/>
                </a:lnTo>
                <a:lnTo>
                  <a:pt x="353378" y="85725"/>
                </a:lnTo>
                <a:close/>
                <a:moveTo>
                  <a:pt x="200025" y="114300"/>
                </a:moveTo>
                <a:lnTo>
                  <a:pt x="180975" y="114300"/>
                </a:lnTo>
                <a:lnTo>
                  <a:pt x="180975" y="133350"/>
                </a:lnTo>
                <a:cubicBezTo>
                  <a:pt x="180975" y="139065"/>
                  <a:pt x="179070" y="143828"/>
                  <a:pt x="175260" y="146685"/>
                </a:cubicBezTo>
                <a:cubicBezTo>
                  <a:pt x="172403" y="150495"/>
                  <a:pt x="167640" y="152400"/>
                  <a:pt x="161925" y="152400"/>
                </a:cubicBezTo>
                <a:cubicBezTo>
                  <a:pt x="151448" y="152400"/>
                  <a:pt x="142875" y="143828"/>
                  <a:pt x="142875" y="133350"/>
                </a:cubicBezTo>
                <a:lnTo>
                  <a:pt x="142875" y="114300"/>
                </a:lnTo>
                <a:lnTo>
                  <a:pt x="123825" y="114300"/>
                </a:lnTo>
                <a:cubicBezTo>
                  <a:pt x="118110" y="114300"/>
                  <a:pt x="113348" y="112395"/>
                  <a:pt x="110490" y="108585"/>
                </a:cubicBezTo>
                <a:cubicBezTo>
                  <a:pt x="106680" y="105728"/>
                  <a:pt x="104775" y="100965"/>
                  <a:pt x="104775" y="95250"/>
                </a:cubicBezTo>
                <a:cubicBezTo>
                  <a:pt x="104775" y="84773"/>
                  <a:pt x="113348" y="76200"/>
                  <a:pt x="123825" y="76200"/>
                </a:cubicBezTo>
                <a:lnTo>
                  <a:pt x="142875" y="76200"/>
                </a:lnTo>
                <a:lnTo>
                  <a:pt x="142875" y="57150"/>
                </a:lnTo>
                <a:cubicBezTo>
                  <a:pt x="142875" y="51435"/>
                  <a:pt x="144780" y="46673"/>
                  <a:pt x="148590" y="43815"/>
                </a:cubicBezTo>
                <a:cubicBezTo>
                  <a:pt x="151448" y="40005"/>
                  <a:pt x="156210" y="38100"/>
                  <a:pt x="161925" y="38100"/>
                </a:cubicBezTo>
                <a:cubicBezTo>
                  <a:pt x="172403" y="38100"/>
                  <a:pt x="180975" y="46673"/>
                  <a:pt x="180975" y="57150"/>
                </a:cubicBezTo>
                <a:lnTo>
                  <a:pt x="180975" y="76200"/>
                </a:lnTo>
                <a:lnTo>
                  <a:pt x="200025" y="76200"/>
                </a:lnTo>
                <a:cubicBezTo>
                  <a:pt x="205740" y="76200"/>
                  <a:pt x="210503" y="78105"/>
                  <a:pt x="213360" y="81915"/>
                </a:cubicBezTo>
                <a:cubicBezTo>
                  <a:pt x="217170" y="84773"/>
                  <a:pt x="219075" y="89535"/>
                  <a:pt x="219075" y="95250"/>
                </a:cubicBezTo>
                <a:cubicBezTo>
                  <a:pt x="219075" y="105728"/>
                  <a:pt x="210503" y="114300"/>
                  <a:pt x="200025" y="114300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0" name="Google Shape;260;p29">
            <a:extLst xmlns:a="http://schemas.openxmlformats.org/drawingml/2006/main">
              <a:ext uri="{FF2B5EF4-FFF2-40B4-BE49-F238E27FC236}">
                <a16:creationId xmlns:a16="http://schemas.microsoft.com/office/drawing/2014/main" id="{0AB2B25B-B76C-4646-91A1-51E49908B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05607" y="3344138"/>
            <a:ext cx="50200" cy="50200"/>
          </a:xfrm>
          <a:custGeom xmlns:a="http://schemas.openxmlformats.org/drawingml/2006/main"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1" name="Google Shape;261;p29">
            <a:extLst xmlns:a="http://schemas.openxmlformats.org/drawingml/2006/main">
              <a:ext uri="{FF2B5EF4-FFF2-40B4-BE49-F238E27FC236}">
                <a16:creationId xmlns:a16="http://schemas.microsoft.com/office/drawing/2014/main" id="{64973525-747D-4D13-A3C8-5395B065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56209" y="3344138"/>
            <a:ext cx="50200" cy="50200"/>
          </a:xfrm>
          <a:custGeom xmlns:a="http://schemas.openxmlformats.org/drawingml/2006/main">
            <a:rect l="l" t="t" r="r" b="b"/>
            <a:pathLst>
              <a:path w="76200" h="76200">
                <a:moveTo>
                  <a:pt x="38100" y="0"/>
                </a:moveTo>
                <a:cubicBezTo>
                  <a:pt x="31432" y="0"/>
                  <a:pt x="24765" y="1905"/>
                  <a:pt x="19050" y="4763"/>
                </a:cubicBezTo>
                <a:cubicBezTo>
                  <a:pt x="7620" y="11430"/>
                  <a:pt x="0" y="23813"/>
                  <a:pt x="0" y="38100"/>
                </a:cubicBezTo>
                <a:cubicBezTo>
                  <a:pt x="0" y="59055"/>
                  <a:pt x="17145" y="76200"/>
                  <a:pt x="38100" y="76200"/>
                </a:cubicBezTo>
                <a:cubicBezTo>
                  <a:pt x="59055" y="76200"/>
                  <a:pt x="76200" y="59055"/>
                  <a:pt x="76200" y="38100"/>
                </a:cubicBezTo>
                <a:cubicBezTo>
                  <a:pt x="76200" y="17145"/>
                  <a:pt x="59055" y="0"/>
                  <a:pt x="38100" y="0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3" name="Google Shape;263;p29">
            <a:extLst xmlns:a="http://schemas.openxmlformats.org/drawingml/2006/main">
              <a:ext uri="{FF2B5EF4-FFF2-40B4-BE49-F238E27FC236}">
                <a16:creationId xmlns:a16="http://schemas.microsoft.com/office/drawing/2014/main" id="{3C8E8F06-E713-4B18-A109-CE55B978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94122" y="3093136"/>
            <a:ext cx="301203" cy="112951"/>
          </a:xfrm>
          <a:custGeom xmlns:a="http://schemas.openxmlformats.org/drawingml/2006/main">
            <a:rect l="l" t="t" r="r" b="b"/>
            <a:pathLst>
              <a:path w="457200" h="171450">
                <a:moveTo>
                  <a:pt x="19050" y="104775"/>
                </a:moveTo>
                <a:lnTo>
                  <a:pt x="40005" y="104775"/>
                </a:lnTo>
                <a:cubicBezTo>
                  <a:pt x="48578" y="142875"/>
                  <a:pt x="82868" y="171450"/>
                  <a:pt x="123825" y="171450"/>
                </a:cubicBezTo>
                <a:cubicBezTo>
                  <a:pt x="164783" y="171450"/>
                  <a:pt x="199073" y="142875"/>
                  <a:pt x="207645" y="104775"/>
                </a:cubicBezTo>
                <a:lnTo>
                  <a:pt x="250508" y="104775"/>
                </a:lnTo>
                <a:cubicBezTo>
                  <a:pt x="259080" y="142875"/>
                  <a:pt x="293370" y="171450"/>
                  <a:pt x="334328" y="171450"/>
                </a:cubicBezTo>
                <a:cubicBezTo>
                  <a:pt x="375285" y="171450"/>
                  <a:pt x="409575" y="142875"/>
                  <a:pt x="418148" y="104775"/>
                </a:cubicBezTo>
                <a:lnTo>
                  <a:pt x="438150" y="104775"/>
                </a:lnTo>
                <a:cubicBezTo>
                  <a:pt x="448628" y="104775"/>
                  <a:pt x="457200" y="96203"/>
                  <a:pt x="457200" y="85725"/>
                </a:cubicBezTo>
                <a:cubicBezTo>
                  <a:pt x="457200" y="75248"/>
                  <a:pt x="448628" y="66675"/>
                  <a:pt x="438150" y="66675"/>
                </a:cubicBezTo>
                <a:lnTo>
                  <a:pt x="417195" y="66675"/>
                </a:lnTo>
                <a:cubicBezTo>
                  <a:pt x="408623" y="28575"/>
                  <a:pt x="374333" y="0"/>
                  <a:pt x="333375" y="0"/>
                </a:cubicBezTo>
                <a:cubicBezTo>
                  <a:pt x="292418" y="0"/>
                  <a:pt x="258128" y="28575"/>
                  <a:pt x="249555" y="66675"/>
                </a:cubicBezTo>
                <a:lnTo>
                  <a:pt x="206693" y="66675"/>
                </a:lnTo>
                <a:cubicBezTo>
                  <a:pt x="198120" y="28575"/>
                  <a:pt x="163830" y="0"/>
                  <a:pt x="122873" y="0"/>
                </a:cubicBezTo>
                <a:cubicBezTo>
                  <a:pt x="81915" y="0"/>
                  <a:pt x="48578" y="28575"/>
                  <a:pt x="40005" y="66675"/>
                </a:cubicBezTo>
                <a:lnTo>
                  <a:pt x="19050" y="66675"/>
                </a:lnTo>
                <a:cubicBezTo>
                  <a:pt x="8573" y="66675"/>
                  <a:pt x="0" y="75248"/>
                  <a:pt x="0" y="85725"/>
                </a:cubicBezTo>
                <a:cubicBezTo>
                  <a:pt x="0" y="96203"/>
                  <a:pt x="8573" y="104775"/>
                  <a:pt x="19050" y="104775"/>
                </a:cubicBezTo>
                <a:close/>
                <a:moveTo>
                  <a:pt x="289560" y="66675"/>
                </a:moveTo>
                <a:cubicBezTo>
                  <a:pt x="297180" y="49530"/>
                  <a:pt x="314325" y="38100"/>
                  <a:pt x="333375" y="38100"/>
                </a:cubicBezTo>
                <a:cubicBezTo>
                  <a:pt x="352425" y="38100"/>
                  <a:pt x="369570" y="49530"/>
                  <a:pt x="377190" y="66675"/>
                </a:cubicBezTo>
                <a:cubicBezTo>
                  <a:pt x="379095" y="72390"/>
                  <a:pt x="381000" y="79058"/>
                  <a:pt x="381000" y="85725"/>
                </a:cubicBezTo>
                <a:cubicBezTo>
                  <a:pt x="381000" y="92393"/>
                  <a:pt x="379095" y="99060"/>
                  <a:pt x="377190" y="104775"/>
                </a:cubicBezTo>
                <a:cubicBezTo>
                  <a:pt x="369570" y="121920"/>
                  <a:pt x="353378" y="133350"/>
                  <a:pt x="333375" y="133350"/>
                </a:cubicBezTo>
                <a:cubicBezTo>
                  <a:pt x="313373" y="133350"/>
                  <a:pt x="297180" y="121920"/>
                  <a:pt x="289560" y="104775"/>
                </a:cubicBezTo>
                <a:cubicBezTo>
                  <a:pt x="287655" y="99060"/>
                  <a:pt x="285750" y="92393"/>
                  <a:pt x="285750" y="85725"/>
                </a:cubicBezTo>
                <a:cubicBezTo>
                  <a:pt x="285750" y="79058"/>
                  <a:pt x="287655" y="72390"/>
                  <a:pt x="289560" y="66675"/>
                </a:cubicBezTo>
                <a:close/>
                <a:moveTo>
                  <a:pt x="80010" y="66675"/>
                </a:moveTo>
                <a:cubicBezTo>
                  <a:pt x="87630" y="49530"/>
                  <a:pt x="104775" y="38100"/>
                  <a:pt x="123825" y="38100"/>
                </a:cubicBezTo>
                <a:cubicBezTo>
                  <a:pt x="142875" y="38100"/>
                  <a:pt x="160020" y="49530"/>
                  <a:pt x="167640" y="66675"/>
                </a:cubicBezTo>
                <a:cubicBezTo>
                  <a:pt x="169545" y="72390"/>
                  <a:pt x="171450" y="79058"/>
                  <a:pt x="171450" y="85725"/>
                </a:cubicBezTo>
                <a:cubicBezTo>
                  <a:pt x="171450" y="92393"/>
                  <a:pt x="169545" y="99060"/>
                  <a:pt x="167640" y="104775"/>
                </a:cubicBezTo>
                <a:cubicBezTo>
                  <a:pt x="160020" y="121920"/>
                  <a:pt x="143828" y="133350"/>
                  <a:pt x="123825" y="133350"/>
                </a:cubicBezTo>
                <a:cubicBezTo>
                  <a:pt x="103823" y="133350"/>
                  <a:pt x="87630" y="121920"/>
                  <a:pt x="80010" y="104775"/>
                </a:cubicBezTo>
                <a:cubicBezTo>
                  <a:pt x="78105" y="99060"/>
                  <a:pt x="76200" y="92393"/>
                  <a:pt x="76200" y="85725"/>
                </a:cubicBezTo>
                <a:cubicBezTo>
                  <a:pt x="76200" y="79058"/>
                  <a:pt x="78105" y="72390"/>
                  <a:pt x="80010" y="66675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4" name="Google Shape;264;p29">
            <a:extLst xmlns:a="http://schemas.openxmlformats.org/drawingml/2006/main">
              <a:ext uri="{FF2B5EF4-FFF2-40B4-BE49-F238E27FC236}">
                <a16:creationId xmlns:a16="http://schemas.microsoft.com/office/drawing/2014/main" id="{7BF560BE-55A9-4484-8539-94108B0E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94523" y="3237462"/>
            <a:ext cx="200802" cy="156876"/>
          </a:xfrm>
          <a:custGeom xmlns:a="http://schemas.openxmlformats.org/drawingml/2006/main">
            <a:rect l="l" t="t" r="r" b="b"/>
            <a:pathLst>
              <a:path w="304800" h="238125">
                <a:moveTo>
                  <a:pt x="295275" y="0"/>
                </a:moveTo>
                <a:lnTo>
                  <a:pt x="9525" y="0"/>
                </a:lnTo>
                <a:cubicBezTo>
                  <a:pt x="4763" y="0"/>
                  <a:pt x="0" y="4763"/>
                  <a:pt x="0" y="9525"/>
                </a:cubicBezTo>
                <a:lnTo>
                  <a:pt x="0" y="47625"/>
                </a:lnTo>
                <a:lnTo>
                  <a:pt x="142875" y="47625"/>
                </a:lnTo>
                <a:cubicBezTo>
                  <a:pt x="159068" y="47625"/>
                  <a:pt x="171450" y="60007"/>
                  <a:pt x="171450" y="76200"/>
                </a:cubicBezTo>
                <a:lnTo>
                  <a:pt x="171450" y="238125"/>
                </a:lnTo>
                <a:lnTo>
                  <a:pt x="304800" y="238125"/>
                </a:lnTo>
                <a:lnTo>
                  <a:pt x="304800" y="9525"/>
                </a:lnTo>
                <a:cubicBezTo>
                  <a:pt x="304800" y="4763"/>
                  <a:pt x="300038" y="0"/>
                  <a:pt x="295275" y="0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5" name="Google Shape;265;p29">
            <a:extLst xmlns:a="http://schemas.openxmlformats.org/drawingml/2006/main">
              <a:ext uri="{FF2B5EF4-FFF2-40B4-BE49-F238E27FC236}">
                <a16:creationId xmlns:a16="http://schemas.microsoft.com/office/drawing/2014/main" id="{6D665594-C14A-47EB-8F6D-16480F6B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94122" y="3281388"/>
            <a:ext cx="200802" cy="112951"/>
          </a:xfrm>
          <a:custGeom xmlns:a="http://schemas.openxmlformats.org/drawingml/2006/main">
            <a:rect l="l" t="t" r="r" b="b"/>
            <a:pathLst>
              <a:path w="304800" h="171450">
                <a:moveTo>
                  <a:pt x="285750" y="0"/>
                </a:moveTo>
                <a:lnTo>
                  <a:pt x="19050" y="0"/>
                </a:lnTo>
                <a:cubicBezTo>
                  <a:pt x="8573" y="0"/>
                  <a:pt x="0" y="8572"/>
                  <a:pt x="0" y="19050"/>
                </a:cubicBezTo>
                <a:lnTo>
                  <a:pt x="0" y="170498"/>
                </a:lnTo>
                <a:cubicBezTo>
                  <a:pt x="0" y="170498"/>
                  <a:pt x="0" y="170498"/>
                  <a:pt x="953" y="171450"/>
                </a:cubicBezTo>
                <a:lnTo>
                  <a:pt x="304800" y="171450"/>
                </a:lnTo>
                <a:lnTo>
                  <a:pt x="304800" y="171450"/>
                </a:lnTo>
                <a:lnTo>
                  <a:pt x="304800" y="19050"/>
                </a:lnTo>
                <a:cubicBezTo>
                  <a:pt x="304800" y="8572"/>
                  <a:pt x="296228" y="0"/>
                  <a:pt x="285750" y="0"/>
                </a:cubicBezTo>
                <a:close/>
                <a:moveTo>
                  <a:pt x="242888" y="142875"/>
                </a:moveTo>
                <a:lnTo>
                  <a:pt x="61913" y="142875"/>
                </a:lnTo>
                <a:cubicBezTo>
                  <a:pt x="54293" y="142875"/>
                  <a:pt x="47625" y="136208"/>
                  <a:pt x="47625" y="128588"/>
                </a:cubicBezTo>
                <a:cubicBezTo>
                  <a:pt x="47625" y="120968"/>
                  <a:pt x="54293" y="114300"/>
                  <a:pt x="61913" y="114300"/>
                </a:cubicBezTo>
                <a:lnTo>
                  <a:pt x="242888" y="114300"/>
                </a:lnTo>
                <a:cubicBezTo>
                  <a:pt x="250508" y="114300"/>
                  <a:pt x="257175" y="120968"/>
                  <a:pt x="257175" y="128588"/>
                </a:cubicBezTo>
                <a:cubicBezTo>
                  <a:pt x="257175" y="136208"/>
                  <a:pt x="250508" y="142875"/>
                  <a:pt x="242888" y="142875"/>
                </a:cubicBezTo>
                <a:close/>
                <a:moveTo>
                  <a:pt x="242888" y="85725"/>
                </a:moveTo>
                <a:lnTo>
                  <a:pt x="61913" y="85725"/>
                </a:lnTo>
                <a:cubicBezTo>
                  <a:pt x="54293" y="85725"/>
                  <a:pt x="47625" y="79057"/>
                  <a:pt x="47625" y="71438"/>
                </a:cubicBezTo>
                <a:cubicBezTo>
                  <a:pt x="47625" y="63818"/>
                  <a:pt x="54293" y="57150"/>
                  <a:pt x="61913" y="57150"/>
                </a:cubicBezTo>
                <a:lnTo>
                  <a:pt x="242888" y="57150"/>
                </a:lnTo>
                <a:cubicBezTo>
                  <a:pt x="250508" y="57150"/>
                  <a:pt x="257175" y="63818"/>
                  <a:pt x="257175" y="71438"/>
                </a:cubicBezTo>
                <a:cubicBezTo>
                  <a:pt x="257175" y="79057"/>
                  <a:pt x="250508" y="85725"/>
                  <a:pt x="242888" y="85725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7" name="Google Shape;267;p29">
            <a:extLst xmlns:a="http://schemas.openxmlformats.org/drawingml/2006/main">
              <a:ext uri="{FF2B5EF4-FFF2-40B4-BE49-F238E27FC236}">
                <a16:creationId xmlns:a16="http://schemas.microsoft.com/office/drawing/2014/main" id="{F865A9C1-E07A-4198-8F14-0627760B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61666" y="1276773"/>
            <a:ext cx="200800" cy="119226"/>
          </a:xfrm>
          <a:custGeom xmlns:a="http://schemas.openxmlformats.org/drawingml/2006/main">
            <a:rect l="l" t="t" r="r" b="b"/>
            <a:pathLst>
              <a:path w="304798" h="180975">
                <a:moveTo>
                  <a:pt x="209548" y="112895"/>
                </a:moveTo>
                <a:lnTo>
                  <a:pt x="209548" y="133350"/>
                </a:lnTo>
                <a:lnTo>
                  <a:pt x="200023" y="133350"/>
                </a:lnTo>
                <a:cubicBezTo>
                  <a:pt x="194762" y="133350"/>
                  <a:pt x="190498" y="137614"/>
                  <a:pt x="190498" y="142875"/>
                </a:cubicBezTo>
                <a:lnTo>
                  <a:pt x="190498" y="171450"/>
                </a:lnTo>
                <a:cubicBezTo>
                  <a:pt x="190498" y="176711"/>
                  <a:pt x="194762" y="180975"/>
                  <a:pt x="200023" y="180975"/>
                </a:cubicBezTo>
                <a:lnTo>
                  <a:pt x="295273" y="180975"/>
                </a:lnTo>
                <a:cubicBezTo>
                  <a:pt x="300533" y="180975"/>
                  <a:pt x="304797" y="176711"/>
                  <a:pt x="304798" y="171450"/>
                </a:cubicBezTo>
                <a:lnTo>
                  <a:pt x="304798" y="142875"/>
                </a:lnTo>
                <a:cubicBezTo>
                  <a:pt x="304797" y="137614"/>
                  <a:pt x="300533" y="133350"/>
                  <a:pt x="295273" y="133350"/>
                </a:cubicBezTo>
                <a:lnTo>
                  <a:pt x="285748" y="133350"/>
                </a:lnTo>
                <a:lnTo>
                  <a:pt x="285748" y="112895"/>
                </a:lnTo>
                <a:cubicBezTo>
                  <a:pt x="285677" y="50575"/>
                  <a:pt x="235173" y="71"/>
                  <a:pt x="172852" y="0"/>
                </a:cubicBezTo>
                <a:lnTo>
                  <a:pt x="0" y="0"/>
                </a:lnTo>
                <a:lnTo>
                  <a:pt x="0" y="76200"/>
                </a:lnTo>
                <a:lnTo>
                  <a:pt x="172852" y="76200"/>
                </a:lnTo>
                <a:cubicBezTo>
                  <a:pt x="193109" y="76223"/>
                  <a:pt x="209524" y="92639"/>
                  <a:pt x="209548" y="112895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8" name="Google Shape;268;p29">
            <a:extLst xmlns:a="http://schemas.openxmlformats.org/drawingml/2006/main">
              <a:ext uri="{FF2B5EF4-FFF2-40B4-BE49-F238E27FC236}">
                <a16:creationId xmlns:a16="http://schemas.microsoft.com/office/drawing/2014/main" id="{4AC49F22-C574-48EB-9F06-A38491A0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68743" y="1446200"/>
            <a:ext cx="31375" cy="31375"/>
          </a:xfrm>
          <a:custGeom xmlns:a="http://schemas.openxmlformats.org/drawingml/2006/main">
            <a:rect l="l" t="t" r="r" b="b"/>
            <a:pathLst>
              <a:path w="47625" h="47625">
                <a:moveTo>
                  <a:pt x="47625" y="23813"/>
                </a:moveTo>
                <a:cubicBezTo>
                  <a:pt x="47625" y="36964"/>
                  <a:pt x="36964" y="47625"/>
                  <a:pt x="23813" y="47625"/>
                </a:cubicBezTo>
                <a:cubicBezTo>
                  <a:pt x="10661" y="47625"/>
                  <a:pt x="0" y="36964"/>
                  <a:pt x="0" y="23813"/>
                </a:cubicBezTo>
                <a:cubicBezTo>
                  <a:pt x="0" y="10661"/>
                  <a:pt x="10661" y="0"/>
                  <a:pt x="23813" y="0"/>
                </a:cubicBezTo>
                <a:cubicBezTo>
                  <a:pt x="36964" y="0"/>
                  <a:pt x="47625" y="10661"/>
                  <a:pt x="47625" y="23813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9" name="Google Shape;269;p29">
            <a:extLst xmlns:a="http://schemas.openxmlformats.org/drawingml/2006/main">
              <a:ext uri="{FF2B5EF4-FFF2-40B4-BE49-F238E27FC236}">
                <a16:creationId xmlns:a16="http://schemas.microsoft.com/office/drawing/2014/main" id="{DC1DDBC2-DCAF-4A60-BD51-E043777F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56193" y="1408549"/>
            <a:ext cx="18825" cy="18825"/>
          </a:xfrm>
          <a:custGeom xmlns:a="http://schemas.openxmlformats.org/drawingml/2006/main">
            <a:rect l="l" t="t" r="r" b="b"/>
            <a:pathLst>
              <a:path w="28575" h="28575">
                <a:moveTo>
                  <a:pt x="28575" y="14288"/>
                </a:moveTo>
                <a:cubicBezTo>
                  <a:pt x="28575" y="22178"/>
                  <a:pt x="22178" y="28575"/>
                  <a:pt x="14288" y="28575"/>
                </a:cubicBezTo>
                <a:cubicBezTo>
                  <a:pt x="6397" y="28575"/>
                  <a:pt x="0" y="22178"/>
                  <a:pt x="0" y="14288"/>
                </a:cubicBezTo>
                <a:cubicBezTo>
                  <a:pt x="0" y="6397"/>
                  <a:pt x="6397" y="0"/>
                  <a:pt x="14288" y="0"/>
                </a:cubicBezTo>
                <a:cubicBezTo>
                  <a:pt x="22178" y="0"/>
                  <a:pt x="28575" y="6397"/>
                  <a:pt x="28575" y="14288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0" name="Google Shape;270;p29">
            <a:extLst xmlns:a="http://schemas.openxmlformats.org/drawingml/2006/main">
              <a:ext uri="{FF2B5EF4-FFF2-40B4-BE49-F238E27FC236}">
                <a16:creationId xmlns:a16="http://schemas.microsoft.com/office/drawing/2014/main" id="{A90B3410-9D7D-4C21-9923-F867398D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5811" y="1477575"/>
            <a:ext cx="207056" cy="100400"/>
          </a:xfrm>
          <a:custGeom xmlns:a="http://schemas.openxmlformats.org/drawingml/2006/main">
            <a:rect l="l" t="t" r="r" b="b"/>
            <a:pathLst>
              <a:path w="314294" h="152399">
                <a:moveTo>
                  <a:pt x="252416" y="28575"/>
                </a:moveTo>
                <a:cubicBezTo>
                  <a:pt x="252197" y="28575"/>
                  <a:pt x="251985" y="28605"/>
                  <a:pt x="251766" y="28607"/>
                </a:cubicBezTo>
                <a:cubicBezTo>
                  <a:pt x="251656" y="28605"/>
                  <a:pt x="251551" y="28575"/>
                  <a:pt x="251439" y="28575"/>
                </a:cubicBezTo>
                <a:lnTo>
                  <a:pt x="166600" y="28575"/>
                </a:lnTo>
                <a:cubicBezTo>
                  <a:pt x="153481" y="28548"/>
                  <a:pt x="142825" y="39163"/>
                  <a:pt x="142798" y="52282"/>
                </a:cubicBezTo>
                <a:cubicBezTo>
                  <a:pt x="142772" y="65400"/>
                  <a:pt x="153386" y="76057"/>
                  <a:pt x="166505" y="76084"/>
                </a:cubicBezTo>
                <a:cubicBezTo>
                  <a:pt x="166536" y="76084"/>
                  <a:pt x="166569" y="76084"/>
                  <a:pt x="166600" y="76084"/>
                </a:cubicBezTo>
                <a:lnTo>
                  <a:pt x="192283" y="76084"/>
                </a:lnTo>
                <a:lnTo>
                  <a:pt x="192262" y="76200"/>
                </a:lnTo>
                <a:lnTo>
                  <a:pt x="204758" y="76200"/>
                </a:lnTo>
                <a:cubicBezTo>
                  <a:pt x="212649" y="76200"/>
                  <a:pt x="219046" y="82597"/>
                  <a:pt x="219046" y="90487"/>
                </a:cubicBezTo>
                <a:cubicBezTo>
                  <a:pt x="219046" y="98378"/>
                  <a:pt x="212649" y="104775"/>
                  <a:pt x="204758" y="104775"/>
                </a:cubicBezTo>
                <a:lnTo>
                  <a:pt x="143943" y="104775"/>
                </a:lnTo>
                <a:cubicBezTo>
                  <a:pt x="140042" y="104747"/>
                  <a:pt x="136277" y="103335"/>
                  <a:pt x="133321" y="100789"/>
                </a:cubicBezTo>
                <a:lnTo>
                  <a:pt x="45076" y="7776"/>
                </a:lnTo>
                <a:cubicBezTo>
                  <a:pt x="34698" y="-2596"/>
                  <a:pt x="17877" y="-2592"/>
                  <a:pt x="7505" y="7787"/>
                </a:cubicBezTo>
                <a:cubicBezTo>
                  <a:pt x="6892" y="8400"/>
                  <a:pt x="6309" y="9043"/>
                  <a:pt x="5759" y="9713"/>
                </a:cubicBezTo>
                <a:cubicBezTo>
                  <a:pt x="-2812" y="20732"/>
                  <a:pt x="-1703" y="36439"/>
                  <a:pt x="8332" y="46144"/>
                </a:cubicBezTo>
                <a:lnTo>
                  <a:pt x="109224" y="144621"/>
                </a:lnTo>
                <a:cubicBezTo>
                  <a:pt x="114206" y="149600"/>
                  <a:pt x="120960" y="152397"/>
                  <a:pt x="128002" y="152400"/>
                </a:cubicBezTo>
                <a:lnTo>
                  <a:pt x="251710" y="152400"/>
                </a:lnTo>
                <a:cubicBezTo>
                  <a:pt x="251940" y="152400"/>
                  <a:pt x="252153" y="152337"/>
                  <a:pt x="252383" y="152332"/>
                </a:cubicBezTo>
                <a:lnTo>
                  <a:pt x="252416" y="152332"/>
                </a:lnTo>
                <a:cubicBezTo>
                  <a:pt x="286590" y="152332"/>
                  <a:pt x="314295" y="124629"/>
                  <a:pt x="314295" y="90454"/>
                </a:cubicBezTo>
                <a:cubicBezTo>
                  <a:pt x="314295" y="56279"/>
                  <a:pt x="286590" y="28575"/>
                  <a:pt x="252416" y="28575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1" name="Google Shape;271;p29">
            <a:extLst xmlns:a="http://schemas.openxmlformats.org/drawingml/2006/main">
              <a:ext uri="{FF2B5EF4-FFF2-40B4-BE49-F238E27FC236}">
                <a16:creationId xmlns:a16="http://schemas.microsoft.com/office/drawing/2014/main" id="{F6F5E00B-C0DA-43B5-A13E-68DBD226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5792" y="1439925"/>
            <a:ext cx="25100" cy="25100"/>
          </a:xfrm>
          <a:custGeom xmlns:a="http://schemas.openxmlformats.org/drawingml/2006/main"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2" name="Google Shape;272;p29">
            <a:extLst xmlns:a="http://schemas.openxmlformats.org/drawingml/2006/main">
              <a:ext uri="{FF2B5EF4-FFF2-40B4-BE49-F238E27FC236}">
                <a16:creationId xmlns:a16="http://schemas.microsoft.com/office/drawing/2014/main" id="{E0A67E01-71C3-4B67-8380-041A27A4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00453" y="1414824"/>
            <a:ext cx="48724" cy="69031"/>
          </a:xfrm>
          <a:custGeom xmlns:a="http://schemas.openxmlformats.org/drawingml/2006/main">
            <a:rect l="l" t="t" r="r" b="b"/>
            <a:pathLst>
              <a:path w="73959" h="104784">
                <a:moveTo>
                  <a:pt x="35008" y="1021"/>
                </a:moveTo>
                <a:cubicBezTo>
                  <a:pt x="27341" y="11464"/>
                  <a:pt x="0" y="50026"/>
                  <a:pt x="0" y="67648"/>
                </a:cubicBezTo>
                <a:cubicBezTo>
                  <a:pt x="-86" y="88072"/>
                  <a:pt x="16400" y="104698"/>
                  <a:pt x="36823" y="104784"/>
                </a:cubicBezTo>
                <a:cubicBezTo>
                  <a:pt x="57246" y="104871"/>
                  <a:pt x="73872" y="88385"/>
                  <a:pt x="73959" y="67963"/>
                </a:cubicBezTo>
                <a:cubicBezTo>
                  <a:pt x="73959" y="67858"/>
                  <a:pt x="73959" y="67753"/>
                  <a:pt x="73959" y="67648"/>
                </a:cubicBezTo>
                <a:cubicBezTo>
                  <a:pt x="73959" y="50026"/>
                  <a:pt x="46619" y="11465"/>
                  <a:pt x="38952" y="1021"/>
                </a:cubicBezTo>
                <a:cubicBezTo>
                  <a:pt x="38182" y="-68"/>
                  <a:pt x="36675" y="-327"/>
                  <a:pt x="35586" y="443"/>
                </a:cubicBezTo>
                <a:cubicBezTo>
                  <a:pt x="35362" y="601"/>
                  <a:pt x="35167" y="797"/>
                  <a:pt x="35008" y="1021"/>
                </a:cubicBez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50283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8" name="Google Shape;348;p35">
            <a:extLst xmlns:a="http://schemas.openxmlformats.org/drawingml/2006/main">
              <a:ext uri="{FF2B5EF4-FFF2-40B4-BE49-F238E27FC236}">
                <a16:creationId xmlns:a16="http://schemas.microsoft.com/office/drawing/2014/main" id="{AD15F8C9-92DE-42ED-8E8C-1CAE98088D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4800" y="355075"/>
            <a:ext cx="8474700" cy="70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>
              <a:defRPr sz="28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850">
                <a:latin typeface="DM Sans"/>
                <a:ea typeface="DM Sans"/>
                <a:cs typeface="DM Sans"/>
              </a:defRPr>
            </a:pPr>
            <a:r>
              <a:rPr sz="2850">
                <a:latin typeface="DM Sans"/>
                <a:ea typeface="DM Sans"/>
                <a:cs typeface="DM Sans"/>
              </a:rPr>
              <a:t>Sources and contribution disclosure</a:t>
            </a:r>
            <a:endParaRPr/>
          </a:p>
        </p:txBody>
      </p:sp>
      <p:sp>
        <p:nvSpPr>
          <p:cNvPr id="349" name="Google Shape;349;p35">
            <a:extLst xmlns:a="http://schemas.openxmlformats.org/drawingml/2006/main">
              <a:ext uri="{FF2B5EF4-FFF2-40B4-BE49-F238E27FC236}">
                <a16:creationId xmlns:a16="http://schemas.microsoft.com/office/drawing/2014/main" id="{F9F10EF8-9241-46DF-958B-FA1687E8E2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136000" y="1200150"/>
            <a:ext cx="6872100" cy="347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350"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Original code: MIT. Data and template licenses remain separate.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AI assistance: design, code, evaluation, tests and documentation.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/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Template: SlidesCarnival, Dercetus / Minimal Medical. CC BY 4.0.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Adapted layouts, text, charts and screenshot. slidescarnival.com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Original template credits: Unsplash. Stock photos are not used here.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/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ShanghaiT2DM: Zhao et al. (2023), CC BY 4.0.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doi:10.1038/s41597-023-01940-7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Dataset v5: doi:10.6084/m9.figshare.21600933.v5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5"/>
              </a:spcAft>
              <a:buNone/>
              <a:defRPr sz="1350">
                <a:latin typeface="DM Sans"/>
                <a:ea typeface="DM Sans"/>
                <a:cs typeface="DM Sans"/>
              </a:defRPr>
            </a:pPr>
            <a:r>
              <a:t>Modified into trailing features and aggregate results.</a:t>
            </a:r>
          </a:p>
        </p:txBody>
      </p:sp>
      <p:sp>
        <p:nvSpPr>
          <p:cNvPr id="350" name="Google Shape;350;p35">
            <a:extLst xmlns:a="http://schemas.openxmlformats.org/drawingml/2006/main">
              <a:ext uri="{FF2B5EF4-FFF2-40B4-BE49-F238E27FC236}">
                <a16:creationId xmlns:a16="http://schemas.microsoft.com/office/drawing/2014/main" id="{7F01AB8B-64A2-4EB8-AC8A-9578DC8867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74075" y="4673650"/>
            <a:ext cx="469800" cy="46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125" b="1">
                <a:solidFill>
                  <a:srgbClr val="05B3F1"/>
                </a:solidFill>
                <a:latin typeface="DM Sans"/>
                <a:ea typeface="DM Sans"/>
                <a:cs typeface="DM Sans"/>
              </a:defRPr>
            </a:pPr>
            <a:fld id="{4DB16885-0D3F-A391-B669-3211DB3B26E8}" type="slidenum">
              <a:rPr sz="1125" b="1">
                <a:solidFill>
                  <a:srgbClr val="05B3F1"/>
                </a:solidFill>
                <a:latin typeface="DM Sans"/>
                <a:ea typeface="DM Sans"/>
                <a:cs typeface="DM Sans"/>
              </a:rPr>
              <a:t>12</a:t>
            </a:fld>
            <a:endParaRPr/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373197A9-338F-42FF-B5E8-A2E5C8CB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33900"/>
            <a:ext cx="795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456375"/>
                </a:solidFill>
                <a:latin typeface="DM Sans"/>
                <a:ea typeface="DM Sans"/>
                <a:cs typeface="DM Sans"/>
              </a:defRPr>
            </a:pPr>
            <a:r>
              <a:rPr sz="1350" b="0">
                <a:solidFill>
                  <a:srgbClr val="456375"/>
                </a:solidFill>
                <a:latin typeface="DM Sans"/>
                <a:ea typeface="DM Sans"/>
                <a:cs typeface="DM Sans"/>
              </a:rPr>
              <a:t>Team dev / J R Deva Dattan / Army Institute of Technology, Pune</a:t>
            </a:r>
          </a:p>
        </p:txBody>
      </p:sp>
    </p:spTree>
    <p:extLst>
      <p:ext uri="{BB962C8B-B14F-4D97-AF65-F5344CB8AC3E}">
        <p14:creationId xmlns:p14="http://schemas.microsoft.com/office/powerpoint/2010/main" val="944375587"/>
      </p:ext>
    </p:extLst>
  </p:cSld>
</p:sld>
</file>

<file path=ppt/theme/theme1.xml><?xml version="1.0" encoding="utf-8"?>
<a:theme xmlns:a="http://schemas.openxmlformats.org/drawingml/2006/main" name="Dercetus template">
  <a:themeElements>
    <a:clrScheme name="Custom 347">
      <a:dk1>
        <a:srgbClr val="00162A"/>
      </a:dk1>
      <a:lt1>
        <a:srgbClr val="FFFFFF"/>
      </a:lt1>
      <a:dk2>
        <a:srgbClr val="ABB8C0"/>
      </a:dk2>
      <a:lt2>
        <a:srgbClr val="F0F2F3"/>
      </a:lt2>
      <a:accent1>
        <a:srgbClr val="05B3F1"/>
      </a:accent1>
      <a:accent2>
        <a:srgbClr val="0073BB"/>
      </a:accent2>
      <a:accent3>
        <a:srgbClr val="B8DD63"/>
      </a:accent3>
      <a:accent4>
        <a:srgbClr val="78B329"/>
      </a:accent4>
      <a:accent5>
        <a:srgbClr val="FF9367"/>
      </a:accent5>
      <a:accent6>
        <a:srgbClr val="EE2424"/>
      </a:accent6>
      <a:hlink>
        <a:srgbClr val="05B3F1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34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2026-10-09T12:29:42.1810000Z</dcterms:created>
  <dcterms:modified xsi:type="dcterms:W3CDTF">2026-10-09T12:29:42.1810000Z</dcterms:modified>
</coreProperties>
</file>